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ba8e007f0f54166" /><Relationship Type="http://schemas.openxmlformats.org/officeDocument/2006/relationships/extended-properties" Target="/docProps/app.xml" Id="Ra8de1da588d247c5" /><Relationship Type="http://schemas.openxmlformats.org/officeDocument/2006/relationships/officeDocument" Target="/ppt/presentation.xml" Id="R6a48474e96534356" /></Relationships>
</file>

<file path=ppt/presentation.xml><?xml version="1.0" encoding="utf-8"?>
<p:presentation xmlns:p="http://schemas.openxmlformats.org/presentationml/2006/main">
  <p:sldMasterIdLst>
    <p:sldMasterId xmlns:r="http://schemas.openxmlformats.org/officeDocument/2006/relationships" id="2147483648" r:id="R1932846559fa4f8b"/>
  </p:sldMasterIdLst>
  <p:notesMasterIdLst>
    <p:notesMasterId xmlns:r="http://schemas.openxmlformats.org/officeDocument/2006/relationships" r:id="R426ef24df5b84c45"/>
  </p:notesMasterIdLst>
  <p:sldIdLst>
    <p:sldId xmlns:r="http://schemas.openxmlformats.org/officeDocument/2006/relationships" id="256" r:id="Ref5bc6cdb6824735"/>
    <p:sldId xmlns:r="http://schemas.openxmlformats.org/officeDocument/2006/relationships" id="257" r:id="Rb4be6f8295654845"/>
    <p:sldId xmlns:r="http://schemas.openxmlformats.org/officeDocument/2006/relationships" id="258" r:id="Rcaa5a002882f4793"/>
    <p:sldId xmlns:r="http://schemas.openxmlformats.org/officeDocument/2006/relationships" id="259" r:id="R39f06cd436f54bcf"/>
    <p:sldId xmlns:r="http://schemas.openxmlformats.org/officeDocument/2006/relationships" id="260" r:id="Rbb292efddc7c499d"/>
    <p:sldId xmlns:r="http://schemas.openxmlformats.org/officeDocument/2006/relationships" id="261" r:id="Rcbe492425a0a43bb"/>
    <p:sldId xmlns:r="http://schemas.openxmlformats.org/officeDocument/2006/relationships" id="262" r:id="Rc75efe5734304c2c"/>
    <p:sldId xmlns:r="http://schemas.openxmlformats.org/officeDocument/2006/relationships" id="263" r:id="R5c8ff12f00644d44"/>
    <p:sldId xmlns:r="http://schemas.openxmlformats.org/officeDocument/2006/relationships" id="264" r:id="R84d2f917f2c04cbd"/>
    <p:sldId xmlns:r="http://schemas.openxmlformats.org/officeDocument/2006/relationships" id="265" r:id="R5c716e7cdd7c4c1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bec9e68f5934083" /><Relationship Type="http://schemas.openxmlformats.org/officeDocument/2006/relationships/slideMaster" Target="/ppt/slideMasters/slideMaster1.xml" Id="R1932846559fa4f8b" /><Relationship Type="http://schemas.openxmlformats.org/officeDocument/2006/relationships/notesMaster" Target="/ppt/notesMasters/notesMaster1.xml" Id="R426ef24df5b84c45" /><Relationship Type="http://schemas.openxmlformats.org/officeDocument/2006/relationships/presProps" Target="/ppt/presProps.xml" Id="Rafaea4fc308c4d4d" /><Relationship Type="http://schemas.openxmlformats.org/officeDocument/2006/relationships/tableStyles" Target="/ppt/tableStyles.xml" Id="R4abeadca91924976" /><Relationship Type="http://schemas.openxmlformats.org/officeDocument/2006/relationships/slide" Target="/ppt/slides/slide1.xml" Id="Ref5bc6cdb6824735" /><Relationship Type="http://schemas.openxmlformats.org/officeDocument/2006/relationships/slide" Target="/ppt/slides/slide2.xml" Id="Rb4be6f8295654845" /><Relationship Type="http://schemas.openxmlformats.org/officeDocument/2006/relationships/slide" Target="/ppt/slides/slide3.xml" Id="Rcaa5a002882f4793" /><Relationship Type="http://schemas.openxmlformats.org/officeDocument/2006/relationships/slide" Target="/ppt/slides/slide4.xml" Id="R39f06cd436f54bcf" /><Relationship Type="http://schemas.openxmlformats.org/officeDocument/2006/relationships/slide" Target="/ppt/slides/slide5.xml" Id="Rbb292efddc7c499d" /><Relationship Type="http://schemas.openxmlformats.org/officeDocument/2006/relationships/slide" Target="/ppt/slides/slide6.xml" Id="Rcbe492425a0a43bb" /><Relationship Type="http://schemas.openxmlformats.org/officeDocument/2006/relationships/slide" Target="/ppt/slides/slide7.xml" Id="Rc75efe5734304c2c" /><Relationship Type="http://schemas.openxmlformats.org/officeDocument/2006/relationships/slide" Target="/ppt/slides/slide8.xml" Id="R5c8ff12f00644d44" /><Relationship Type="http://schemas.openxmlformats.org/officeDocument/2006/relationships/slide" Target="/ppt/slides/slide9.xml" Id="R84d2f917f2c04cbd" /><Relationship Type="http://schemas.openxmlformats.org/officeDocument/2006/relationships/slide" Target="/ppt/slides/slide10.xml" Id="R5c716e7cdd7c4c1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d8ca90ffb624d6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Minimal Traffic">
      <a:dk1>
        <a:srgbClr val="000000"/>
      </a:dk1>
      <a:lt1>
        <a:srgbClr val="FFFFFF"/>
      </a:lt1>
      <a:dk2>
        <a:srgbClr val="172A3A"/>
      </a:dk2>
      <a:lt2>
        <a:srgbClr val="EEF2F4"/>
      </a:lt2>
      <a:accent1>
        <a:srgbClr val="236B8E"/>
      </a:accent1>
      <a:accent2>
        <a:srgbClr val="5E9DBA"/>
      </a:accent2>
      <a:accent3>
        <a:srgbClr val="3B7D61"/>
      </a:accent3>
      <a:accent4>
        <a:srgbClr val="B67A22"/>
      </a:accent4>
      <a:accent5>
        <a:srgbClr val="B23A35"/>
      </a:accent5>
      <a:accent6>
        <a:srgbClr val="5F6B76"/>
      </a:accent6>
      <a:hlink>
        <a:srgbClr val="236B8E"/>
      </a:hlink>
      <a:folHlink>
        <a:srgbClr val="172A3A"/>
      </a:folHlink>
    </a:clrScheme>
    <a:fontScheme name="">
      <a:majorFont>
        <a:latin typeface="Aptos"/>
        <a:ea typeface=""/>
        <a:cs typeface=""/>
      </a:majorFont>
      <a:minorFont>
        <a:latin typeface="Aptos"/>
        <a:ea typeface=""/>
        <a:cs typeface=""/>
      </a:minorFont>
    </a:fontScheme>
    <a:fmtScheme name="Minimal Traffic">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7f7192488484c66" /><Relationship Type="http://schemas.openxmlformats.org/officeDocument/2006/relationships/notesMaster" Target="/ppt/notesMasters/notesMaster1.xml" Id="Rd714a38815b84694" /></Relationships>
</file>

<file path=ppt/notesSlides/_rels/notesSlide2.xml.rels>&#65279;<?xml version="1.0" encoding="utf-8"?><Relationships xmlns="http://schemas.openxmlformats.org/package/2006/relationships"><Relationship Type="http://schemas.openxmlformats.org/officeDocument/2006/relationships/slide" Target="/ppt/slides/slide2.xml" Id="Rd8ae63162f954f65" /><Relationship Type="http://schemas.openxmlformats.org/officeDocument/2006/relationships/notesMaster" Target="/ppt/notesMasters/notesMaster1.xml" Id="R1e378f29e03e41ab" /></Relationships>
</file>

<file path=ppt/notesSlides/_rels/notesSlide3.xml.rels>&#65279;<?xml version="1.0" encoding="utf-8"?><Relationships xmlns="http://schemas.openxmlformats.org/package/2006/relationships"><Relationship Type="http://schemas.openxmlformats.org/officeDocument/2006/relationships/slide" Target="/ppt/slides/slide3.xml" Id="R041c8fc7cd8147b2" /><Relationship Type="http://schemas.openxmlformats.org/officeDocument/2006/relationships/notesMaster" Target="/ppt/notesMasters/notesMaster1.xml" Id="Rb94b6a11d9a24afa" /></Relationships>
</file>

<file path=ppt/notesSlides/_rels/notesSlide4.xml.rels>&#65279;<?xml version="1.0" encoding="utf-8"?><Relationships xmlns="http://schemas.openxmlformats.org/package/2006/relationships"><Relationship Type="http://schemas.openxmlformats.org/officeDocument/2006/relationships/slide" Target="/ppt/slides/slide4.xml" Id="R67dcf374879348c1" /><Relationship Type="http://schemas.openxmlformats.org/officeDocument/2006/relationships/notesMaster" Target="/ppt/notesMasters/notesMaster1.xml" Id="R01ebff41290b428e" /></Relationships>
</file>

<file path=ppt/notesSlides/_rels/notesSlide5.xml.rels>&#65279;<?xml version="1.0" encoding="utf-8"?><Relationships xmlns="http://schemas.openxmlformats.org/package/2006/relationships"><Relationship Type="http://schemas.openxmlformats.org/officeDocument/2006/relationships/slide" Target="/ppt/slides/slide5.xml" Id="R566f376d4fbc453b" /><Relationship Type="http://schemas.openxmlformats.org/officeDocument/2006/relationships/notesMaster" Target="/ppt/notesMasters/notesMaster1.xml" Id="Ra820284e5c0c40ff" /></Relationships>
</file>

<file path=ppt/notesSlides/_rels/notesSlide6.xml.rels>&#65279;<?xml version="1.0" encoding="utf-8"?><Relationships xmlns="http://schemas.openxmlformats.org/package/2006/relationships"><Relationship Type="http://schemas.openxmlformats.org/officeDocument/2006/relationships/slide" Target="/ppt/slides/slide6.xml" Id="R8f4a373b82a94e5b" /><Relationship Type="http://schemas.openxmlformats.org/officeDocument/2006/relationships/notesMaster" Target="/ppt/notesMasters/notesMaster1.xml" Id="R989f10fc102549b5" /></Relationships>
</file>

<file path=ppt/notesSlides/_rels/notesSlide7.xml.rels>&#65279;<?xml version="1.0" encoding="utf-8"?><Relationships xmlns="http://schemas.openxmlformats.org/package/2006/relationships"><Relationship Type="http://schemas.openxmlformats.org/officeDocument/2006/relationships/slide" Target="/ppt/slides/slide7.xml" Id="Rc74beffa262e43ad" /><Relationship Type="http://schemas.openxmlformats.org/officeDocument/2006/relationships/notesMaster" Target="/ppt/notesMasters/notesMaster1.xml" Id="Rd8191209aa424978" /></Relationships>
</file>

<file path=ppt/notesSlides/_rels/notesSlide8.xml.rels>&#65279;<?xml version="1.0" encoding="utf-8"?><Relationships xmlns="http://schemas.openxmlformats.org/package/2006/relationships"><Relationship Type="http://schemas.openxmlformats.org/officeDocument/2006/relationships/slide" Target="/ppt/slides/slide8.xml" Id="R5d5cfa07bb4f4430" /><Relationship Type="http://schemas.openxmlformats.org/officeDocument/2006/relationships/notesMaster" Target="/ppt/notesMasters/notesMaster1.xml" Id="R266e834091a14420" /></Relationships>
</file>

<file path=ppt/notesSlides/_rels/notesSlide9.xml.rels>&#65279;<?xml version="1.0" encoding="utf-8"?><Relationships xmlns="http://schemas.openxmlformats.org/package/2006/relationships"><Relationship Type="http://schemas.openxmlformats.org/officeDocument/2006/relationships/slide" Target="/ppt/slides/slide9.xml" Id="R1fa910af91ea4bb8" /><Relationship Type="http://schemas.openxmlformats.org/officeDocument/2006/relationships/notesMaster" Target="/ppt/notesMasters/notesMaster1.xml" Id="R4198467046cf4c8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fc81c58516e404a" /><Relationship Type="http://schemas.openxmlformats.org/officeDocument/2006/relationships/notesMaster" Target="/ppt/notesMasters/notesMaster1.xml" Id="R33fd94795e644122"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Mở đầu: Hệ thống nhận diện xe, theo dõi quá trình di chuyển và kiểm tra xe đi qua vạch khi đèn đỏ. Kết quả có ảnh bằng chứng để kiểm tra lại.</a:t>
            </a:r>
          </a:p>
          <a:p>
            <a:r>
              <a:t>Nguồn: README.md, config.yaml, main.py.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YOLO giải quyết phát hiện xe trong từng khung hình. ByteTrack liên kết các lần phát hiện để biết đó là cùng một chiếc xe. YOLOv8s pretrained COCO tìm đèn trong vùng đã hiệu chỉnh. Classifier MobileNetV2 Autoware được ưu tiên khi đủ tin cậy, HSV hỗ trợ khi kết quả mạng chưa rõ. Bộ lọc màu mặc định xác nhận trạng thái qua 3 frame.</a:t>
            </a:r>
          </a:p>
          <a:p>
            <a:r>
              <a:t>Nguồn: main.py, src/traffic_light_detector.py, src/light_classifier.py. Vạch mặc định do người dùng xác nhận. Tự đề xuất vạch bằng CLAHE, ngưỡng thích nghi, HoughLinesP chỉ là thử nghiệm.</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Giải thích hình học: khoảng cách có dấu cho biết điểm xe nằm ở phía nào của vạch. Cấu hình hướng giúp phân biệt trước và sau. Công thức d(P) = ((x-xA)(yB-yA) - (y-yA)(xB-xA)) / độ dài AB. Hệ thống kiểm tra giao với đoạn vạch hữu hạn. Xe xuất hiện sẵn sau vạch chưa đủ điều kiện. Nếu xe quay lại trước khi đủ xác nhận, ứng viên bị hủy. Điểm đáy bbox chỉ là điểm đại diện, chưa phải bánh hay đầu xe thực. Mất track ngắn được xử lý theo cấu hình, mất ID hoàn toàn vẫn có thể gây lỗi.</a:t>
            </a:r>
          </a:p>
          <a:p>
            <a:r>
              <a:t>Nguồn: src/crossing_tracker.py, src/violation_engine.py, config.yaml.</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Câu trả lời khi được hỏi có train không: Có, em fine-tune ba detector từ trọng số pretrained, không huấn luyện từ đầu. Riêng pipeline video mặc định hiện dùng YOLO11x pretrained COCO. Thao tác chọn tọa độ vạch và vùng đèn là hiệu chỉnh hình học, không phải học mô hình. weights/yolov8s.pt để tìm đèn là checkpoint COCO 80 lớp, khác checkpoint phương tiện 5 lớp trong thí nghiệm.</a:t>
            </a:r>
          </a:p>
          <a:p>
            <a:r>
              <a:t>Nguồn: config.yaml, training/traffic_training.py và notebooks/train-traffic-3-models-modal-h100.ipynb.</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Checkpoint tốt nhất được chọn bằng validation, sau đó đánh giá trên test. SSD dùng ảnh 300×300, batch 8. YOLOv8s dùng 640×640, batch 8. YOLO11x dùng 640×640, batch 4. P/R/F1 đo ở confidence 0,25 và IoU 0,50. mAP50–95 dùng nhiều ngưỡng IoU nên không áp dụng riêng điều kiện 0,50 của F1. FPS đo detector batch 1, FP32 trên H100. Thí nghiệm có một seed. Khởi tạo pretrained COCO rồi test trên COCO subset chưa chứng minh tổng quát trên camera mới.</a:t>
            </a:r>
          </a:p>
          <a:p>
            <a:r>
              <a:t>Nguồn: output cell 18/20 của notebooks/train-traffic-3-models-modal-h100.ipynb. Kết quả thuộc checkpoint fine-tune, không phải checkpoint pretrained mặc định của pipeline.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AP tổng hợp đường Precision–Recall khi thay đổi ngưỡng tin cậy cho một lớp, mAP lấy trung bình AP các lớp. Hai khung trong IoU là bbox dự đoán và bbox nhãn. IoU càng gần 1 thì định vị càng khớp. mAP50–95 lấy trung bình các ngưỡng IoU 0,50 đến 0,95 với bước 0,05 nên yêu cầu chặt hơn mAP50. Không dùng mAP detector để tuyên bố accuracy vượt đèn đỏ.</a:t>
            </a:r>
          </a:p>
          <a:p>
            <a:r>
              <a:t>Nguồn định nghĩa triển khai: training/traffic_training.py, evaluate_detector và detection_diagnostics. Kết quả: notebook đã chạy.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Ví dụ nếu video có 30 FPS mà hệ thống xử lý 10 FPS và giữ mọi frame, cần khoảng 3 giây để xử lý 1 giây video. Detector 119,9 FPS trên H100 không có nghĩa pipeline hoàn chỉnh chạy 119,9 FPS. Tracking, đọc đèn, kiểm tra vi phạm và lưu video đều cần thời gian.</a:t>
            </a:r>
          </a:p>
          <a:p>
            <a:r>
              <a:t>Nguồn: notebook output bảng test benchmark. Chart và workbook lấy từ deck project, giữ số liệu 166,8, 119,9 và 65,2.</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Số tham số không quyết định tốc độ một mình. Chênh lệch đầu vào và lượng tính toán góp phần giải thích. Không kết luận thời gian tăng chính xác 4,55 lần. Model mới hơn không tự động nhanh hơn mọi model cũ. Đây là so sánh các cấu hình thực dụng, không phải thí nghiệm cô lập riêng kiến trúc. Nếu biểu đồ là mAP thì YOLO11x không thấp nhất: YOLOv8s 0,318, YOLO11x 0,309, SSD 0,257.</a:t>
            </a:r>
          </a:p>
          <a:p>
            <a:r>
              <a:t>Nguồn: notebook bảng test benchmark, docs/PAPER_GUIDE.md.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Project có evaluate_events.py. Script yêu cầu run đã hoàn tất, ground truth reviewed=true và video_identity khớp. Ghép một-một theo gate_id và video_time_seconds, dự đoán trùng tính FP. Cần gán cả xe model bỏ sót và video không vi phạm. Với nhiều xe qua gần nhau, ghép thời gian chưa đủ chứng minh đúng chiếc xe, cần kiểm tra quỹ đạo hoặc bbox. Chia dữ liệu theo camera/nhóm video cùng góc để tránh rò rỉ từ frame gần nhau. Đo thêm FPS toàn pipeline, nhầm màu đèn, lỗi đổi ID và các cảnh khó.</a:t>
            </a:r>
          </a:p>
          <a:p>
            <a:r>
              <a:t>Nguồn: evaluate_events.py, docs/ACCURACY_GUIDE.md. Workspace chưa có event_metrics.json hoặc ground truth sự kiện đã kiểm duyệt.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Cách trả lời: Em không huấn luyện mạng phát hiện vượt đèn đỏ theo kiểu đầu-cuối. Em sử dụng detector và classifier pretrained, có thí nghiệm fine-tune detector, sau đó kết hợp ByteTrack cùng luật hình học theo thời gian. YOLOv8s tốt nhất trên COCO subset không đồng nghĩa tốt nhất trên camera mục tiêu. Pipeline hiện dùng YOLO11x pretrained theo kiểm tra trực quan ghi trong tài liệu, chưa có benchmark camera đủ để khẳng định tối ưu. Cần tránh gọi confidence 0,99 trên một crop là accuracy hệ thống 99%.</a:t>
            </a:r>
          </a:p>
          <a:p>
            <a:r>
              <a:t>Nguồn: README.md, config.yaml, docs/ACCURACY_GUIDE.md, docs/PAPER_GUIDE.md và notebook đã chạy.</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10e18e3e84f4cc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a94124675394e9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cad7c85cc57497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39f93b9198a44e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5a67aa48f68453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4a4b350fbba4b2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60719D4-4A5F-4C2F-8D2C-17DC785587A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DD9C7E0-5DE3-4A2B-8501-B1CB1139877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E66978E-1A57-4673-B39A-3DF047727E4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240A2C7-9557-443D-AED3-C87E901CDAB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78BCD34-5224-4D46-99D2-CEE2151B6CE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7CF9F72-49C9-4B08-9C49-965EDB839B8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DC8DB9F-D78C-4A63-8E8C-4CC352A7644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FE0157D-4579-4FA9-8B91-A23F23513EC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3823770-B2F8-4AE5-AD61-41E774EEEC5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394D392-CC87-48E5-978C-10C503692D5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a1f8485c59d4cb0" /><Relationship Type="http://schemas.openxmlformats.org/officeDocument/2006/relationships/slideLayout" Target="/ppt/slideLayouts/slideLayout1.xml" Id="R8629b11180d142fb" /><Relationship Type="http://schemas.openxmlformats.org/officeDocument/2006/relationships/slideLayout" Target="/ppt/slideLayouts/slideLayout2.xml" Id="R9864f7272b384249" /><Relationship Type="http://schemas.openxmlformats.org/officeDocument/2006/relationships/slideLayout" Target="/ppt/slideLayouts/slideLayout3.xml" Id="R4ab47b6055004ea6" /><Relationship Type="http://schemas.openxmlformats.org/officeDocument/2006/relationships/slideLayout" Target="/ppt/slideLayouts/slideLayout4.xml" Id="Rd3d17f5ad24e48f2" /><Relationship Type="http://schemas.openxmlformats.org/officeDocument/2006/relationships/slideLayout" Target="/ppt/slideLayouts/slideLayout5.xml" Id="Ra20166ca044f4b6d" /><Relationship Type="http://schemas.openxmlformats.org/officeDocument/2006/relationships/slideLayout" Target="/ppt/slideLayouts/slideLayout6.xml" Id="R0d1bdf5ccf9b492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629b11180d142fb"/>
    <p:sldLayoutId xmlns:r="http://schemas.openxmlformats.org/officeDocument/2006/relationships" id="2147483650" r:id="R9864f7272b384249"/>
    <p:sldLayoutId xmlns:r="http://schemas.openxmlformats.org/officeDocument/2006/relationships" id="2147483651" r:id="R4ab47b6055004ea6"/>
    <p:sldLayoutId xmlns:r="http://schemas.openxmlformats.org/officeDocument/2006/relationships" id="2147483652" r:id="Rd3d17f5ad24e48f2"/>
    <p:sldLayoutId xmlns:r="http://schemas.openxmlformats.org/officeDocument/2006/relationships" id="2147483653" r:id="Ra20166ca044f4b6d"/>
    <p:sldLayoutId xmlns:r="http://schemas.openxmlformats.org/officeDocument/2006/relationships" id="2147483654" r:id="R0d1bdf5ccf9b492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Minimal Traffic">
      <a:dk1>
        <a:srgbClr val="000000"/>
      </a:dk1>
      <a:lt1>
        <a:srgbClr val="FFFFFF"/>
      </a:lt1>
      <a:dk2>
        <a:srgbClr val="172A3A"/>
      </a:dk2>
      <a:lt2>
        <a:srgbClr val="EEF2F4"/>
      </a:lt2>
      <a:accent1>
        <a:srgbClr val="236B8E"/>
      </a:accent1>
      <a:accent2>
        <a:srgbClr val="5E9DBA"/>
      </a:accent2>
      <a:accent3>
        <a:srgbClr val="3B7D61"/>
      </a:accent3>
      <a:accent4>
        <a:srgbClr val="B67A22"/>
      </a:accent4>
      <a:accent5>
        <a:srgbClr val="B23A35"/>
      </a:accent5>
      <a:accent6>
        <a:srgbClr val="5F6B76"/>
      </a:accent6>
      <a:hlink>
        <a:srgbClr val="236B8E"/>
      </a:hlink>
      <a:folHlink>
        <a:srgbClr val="172A3A"/>
      </a:folHlink>
    </a:clrScheme>
    <a:fontScheme name="">
      <a:majorFont>
        <a:latin typeface="Aptos"/>
        <a:ea typeface=""/>
        <a:cs typeface=""/>
      </a:majorFont>
      <a:minorFont>
        <a:latin typeface="Aptos"/>
        <a:ea typeface=""/>
        <a:cs typeface=""/>
      </a:minorFont>
    </a:fontScheme>
    <a:fmtScheme name="Minimal Traffic">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4bb9304dca843f0" /><Relationship Type="http://schemas.openxmlformats.org/officeDocument/2006/relationships/image" Target="/ppt/media/image.jpeg" Id="R88e1bbda01ad4bea" /><Relationship Type="http://schemas.openxmlformats.org/officeDocument/2006/relationships/notesSlide" Target="/ppt/notesSlides/notesSlide1.xml" Id="R793727bad7424f4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30ad99566da4a17" /><Relationship Type="http://schemas.openxmlformats.org/officeDocument/2006/relationships/image" Target="/ppt/media/image2.jpeg" Id="R2909b61a61e54190" /><Relationship Type="http://schemas.openxmlformats.org/officeDocument/2006/relationships/notesSlide" Target="/ppt/notesSlides/notesSlide2.xml" Id="Ra1313124f3e14af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84975dcc8674b67" /><Relationship Type="http://schemas.openxmlformats.org/officeDocument/2006/relationships/notesSlide" Target="/ppt/notesSlides/notesSlide3.xml" Id="R57fe7d08b0c34ab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28d262300464f13" /><Relationship Type="http://schemas.openxmlformats.org/officeDocument/2006/relationships/image" Target="/ppt/media/image3.jpeg" Id="R0f13a9997dc74032" /><Relationship Type="http://schemas.openxmlformats.org/officeDocument/2006/relationships/image" Target="/ppt/media/image4.jpeg" Id="R582ebbebfac240f0" /><Relationship Type="http://schemas.openxmlformats.org/officeDocument/2006/relationships/notesSlide" Target="/ppt/notesSlides/notesSlide4.xml" Id="Rdfd58ad6c5174f0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9a81b7fb82b40c0" /><Relationship Type="http://schemas.openxmlformats.org/officeDocument/2006/relationships/chart" Target="/ppt/slides/charts/chart1.xml" Id="Re6c1e012435a4ddc" /><Relationship Type="http://schemas.openxmlformats.org/officeDocument/2006/relationships/notesSlide" Target="/ppt/notesSlides/notesSlide5.xml" Id="Rb7d61fd8a0a2400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2c592b7e2044ff6" /><Relationship Type="http://schemas.openxmlformats.org/officeDocument/2006/relationships/notesSlide" Target="/ppt/notesSlides/notesSlide6.xml" Id="R7dff9e3ff2134701" /></Relationships>
</file>

<file path=ppt/slides/_rels/slide7.xml.rels><?xml version='1.0' encoding='utf-8'?>
<ns0:Relationships xmlns:ns0="http://schemas.openxmlformats.org/package/2006/relationships"><ns0:Relationship Type="http://schemas.openxmlformats.org/officeDocument/2006/relationships/slideLayout" Target="/ppt/slideLayouts/slideLayout6.xml" Id="R1c9387e52b2d46ac" /><ns0:Relationship Type="http://schemas.openxmlformats.org/officeDocument/2006/relationships/image" Target="/ppt/media/image5.jpeg" Id="R7d9adaa0f562445f" /><ns0:Relationship Type="http://schemas.openxmlformats.org/officeDocument/2006/relationships/notesSlide" Target="/ppt/notesSlides/notesSlide7.xml" Id="R0139031a2d414998" /><ns0:Relationship Id="rIdSummaryChart" Type="http://schemas.openxmlformats.org/officeDocument/2006/relationships/chart" Target="/ppt/slides/charts/chart3.xml" /></ns0: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378bf4c4ce74910" /><Relationship Type="http://schemas.openxmlformats.org/officeDocument/2006/relationships/chart" Target="/ppt/slides/charts/chart2.xml" Id="R54ecf9669ec24c84" /><Relationship Type="http://schemas.openxmlformats.org/officeDocument/2006/relationships/notesSlide" Target="/ppt/notesSlides/notesSlide8.xml" Id="R17ac0521da804f3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94ab02ed230416a" /><Relationship Type="http://schemas.openxmlformats.org/officeDocument/2006/relationships/chart" Target="/ppt/slides/charts/chart3.xml" Id="R887b4b2bf0c54400" /><Relationship Type="http://schemas.openxmlformats.org/officeDocument/2006/relationships/image" Target="/ppt/media/image6.jpeg" Id="R2827f344d7c2448e" /><Relationship Type="http://schemas.openxmlformats.org/officeDocument/2006/relationships/image" Target="/ppt/media/image7.jpeg" Id="R847242fa93ff463b" /><Relationship Type="http://schemas.openxmlformats.org/officeDocument/2006/relationships/notesSlide" Target="/ppt/notesSlides/notesSlide9.xml" Id="R4fc18e29221e4df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0386cbe18d9455b" /><Relationship Type="http://schemas.openxmlformats.org/officeDocument/2006/relationships/image" Target="/ppt/media/image8.jpeg" Id="R0b066f72d11a41a0" /><Relationship Type="http://schemas.openxmlformats.org/officeDocument/2006/relationships/notesSlide" Target="/ppt/notesSlides/notesSlide10.xml" Id="R6dff3c18cd834e5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Số ảnh</c:v>
          </c:tx>
          <c:spPr>
            <a:solidFill xmlns:a="http://schemas.openxmlformats.org/drawingml/2006/main">
              <a:srgbClr val="236B8E"/>
            </a:solidFill>
          </c:spPr>
          <c:invertIfNegative val="0"/>
          <c:cat>
            <c:strRef>
              <c:f>'Chart Data'!$A$2:$A$4</c:f>
              <c:strCache>
                <c:ptCount val="3"/>
                <c:pt idx="0">
                  <c:v>Train</c:v>
                </c:pt>
                <c:pt idx="1">
                  <c:v>Validation</c:v>
                </c:pt>
                <c:pt idx="2">
                  <c:v>Test</c:v>
                </c:pt>
              </c:strCache>
            </c:strRef>
          </c:cat>
          <c:val>
            <c:numRef>
              <c:f>'Chart Data'!$B$2:$B$4</c:f>
              <c:numCache>
                <c:formatCode>General</c:formatCode>
                <c:ptCount val="3"/>
                <c:pt idx="0">
                  <c:v>1000</c:v>
                </c:pt>
                <c:pt idx="1">
                  <c:v>200</c:v>
                </c:pt>
                <c:pt idx="2">
                  <c:v>200</c:v>
                </c:pt>
              </c:numCache>
            </c:numRef>
          </c:val>
        </c:ser>
        <c:dLbls>
          <c:txPr>
            <a:bodyPr xmlns:a="http://schemas.openxmlformats.org/drawingml/2006/main" anchorCtr="1"/>
            <a:lstStyle xmlns:a="http://schemas.openxmlformats.org/drawingml/2006/main"/>
            <a:p xmlns:a="http://schemas.openxmlformats.org/drawingml/2006/main">
              <a:pPr>
                <a:defRPr sz="1200" b="1">
                  <a:solidFill>
                    <a:srgbClr val="17212B"/>
                  </a:solidFill>
                  <a:latin typeface="Arial"/>
                  <a:ea typeface="Arial"/>
                  <a:cs typeface="Arial"/>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FD8DD"/>
            </a:solidFill>
            <a:prstDash val="solid"/>
          </a:ln>
        </c:spPr>
        <c:txPr>
          <a:bodyPr xmlns:a="http://schemas.openxmlformats.org/drawingml/2006/main" anchorCtr="1"/>
          <a:lstStyle xmlns:a="http://schemas.openxmlformats.org/drawingml/2006/main"/>
          <a:p xmlns:a="http://schemas.openxmlformats.org/drawingml/2006/main">
            <a:pPr>
              <a:defRPr sz="1275">
                <a:solidFill>
                  <a:srgbClr val="5F6B76"/>
                </a:solidFill>
                <a:latin typeface="Arial"/>
                <a:ea typeface="Arial"/>
                <a:cs typeface="Arial"/>
              </a:defRPr>
            </a:pPr>
          </a:p>
        </c:txPr>
        <c:crossAx val="48672768"/>
      </c:catAx>
      <c:valAx>
        <c:axId val="48672768"/>
        <c:scaling>
          <c:orientation val="minMax"/>
          <c:max val="1100"/>
          <c:min val="0"/>
        </c:scaling>
        <c:delete val="0"/>
        <c:axPos val="l"/>
        <c:majorGridlines>
          <c:spPr>
            <a:ln xmlns:a="http://schemas.openxmlformats.org/drawingml/2006/main" w="9525">
              <a:solidFill>
                <a:srgbClr val="EEF2F4"/>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F6B76"/>
                </a:solidFill>
                <a:latin typeface="Arial"/>
                <a:ea typeface="Arial"/>
                <a:cs typeface="Arial"/>
              </a:defRPr>
            </a:pPr>
          </a:p>
        </c:txPr>
        <c:crossAx val="48650112"/>
        <c:crossBetween val="between"/>
        <c:majorUnit val="200"/>
      </c:valAx>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mAP@0.50:0.95</c:v>
          </c:tx>
          <c:spPr>
            <a:solidFill xmlns:a="http://schemas.openxmlformats.org/drawingml/2006/main">
              <a:srgbClr val="236B8E"/>
            </a:solidFill>
          </c:spPr>
          <c:invertIfNegative val="0"/>
          <c:cat>
            <c:strRef>
              <c:f>'Chart Data'!$A$2:$A$4</c:f>
              <c:strCache>
                <c:ptCount val="3"/>
                <c:pt idx="0">
                  <c:v>SSD300-VGG16</c:v>
                </c:pt>
                <c:pt idx="1">
                  <c:v>YOLOv8s</c:v>
                </c:pt>
                <c:pt idx="2">
                  <c:v>YOLO11x</c:v>
                </c:pt>
              </c:strCache>
            </c:strRef>
          </c:cat>
          <c:val>
            <c:numRef>
              <c:f>'Chart Data'!$B$2:$B$4</c:f>
              <c:numCache>
                <c:formatCode>0.0</c:formatCode>
                <c:ptCount val="3"/>
                <c:pt idx="0">
                  <c:v>0.257</c:v>
                </c:pt>
                <c:pt idx="1">
                  <c:v>0.318</c:v>
                </c:pt>
                <c:pt idx="2">
                  <c:v>0.309</c:v>
                </c:pt>
              </c:numCache>
            </c:numRef>
          </c:val>
        </c:ser>
        <c:ser>
          <c:idx val="1"/>
          <c:order val="1"/>
          <c:tx>
            <c:v>F1</c:v>
          </c:tx>
          <c:spPr>
            <a:solidFill xmlns:a="http://schemas.openxmlformats.org/drawingml/2006/main">
              <a:srgbClr val="B67A22"/>
            </a:solidFill>
          </c:spPr>
          <c:invertIfNegative val="0"/>
          <c:cat>
            <c:strRef>
              <c:f>'Chart Data'!$C$2:$C$4</c:f>
              <c:strCache>
                <c:ptCount val="3"/>
                <c:pt idx="0">
                  <c:v>SSD300-VGG16</c:v>
                </c:pt>
                <c:pt idx="1">
                  <c:v>YOLOv8s</c:v>
                </c:pt>
                <c:pt idx="2">
                  <c:v>YOLO11x</c:v>
                </c:pt>
              </c:strCache>
            </c:strRef>
          </c:cat>
          <c:val>
            <c:numRef>
              <c:f>'Chart Data'!$D$2:$D$4</c:f>
              <c:numCache>
                <c:formatCode>0.0</c:formatCode>
                <c:ptCount val="3"/>
                <c:pt idx="0">
                  <c:v>0.445</c:v>
                </c:pt>
                <c:pt idx="1">
                  <c:v>0.529</c:v>
                </c:pt>
                <c:pt idx="2">
                  <c:v>0.514</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050" b="1">
                  <a:solidFill>
                    <a:srgbClr val="17212B"/>
                  </a:solidFill>
                  <a:latin typeface="Arial"/>
                  <a:ea typeface="Arial"/>
                  <a:cs typeface="Arial"/>
                </a:defRPr>
              </a:pPr>
            </a:p>
          </c:txPr>
          <c:dLblPos val="outEnd"/>
          <c:showLegendKey val="0"/>
          <c:showVal val="1"/>
          <c:showCatName val="0"/>
          <c:showSerName val="0"/>
          <c:showPercent val="0"/>
          <c:showBubbleSize val="0"/>
          <c:showLeaderLines val="0"/>
        </c:dLbls>
        <c:gapWidth val="5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FD8DD"/>
            </a:solidFill>
            <a:prstDash val="solid"/>
          </a:ln>
        </c:spPr>
        <c:txPr>
          <a:bodyPr xmlns:a="http://schemas.openxmlformats.org/drawingml/2006/main" anchorCtr="1"/>
          <a:lstStyle xmlns:a="http://schemas.openxmlformats.org/drawingml/2006/main"/>
          <a:p xmlns:a="http://schemas.openxmlformats.org/drawingml/2006/main">
            <a:pPr>
              <a:defRPr sz="1125">
                <a:solidFill>
                  <a:srgbClr val="5F6B76"/>
                </a:solidFill>
                <a:latin typeface="Arial"/>
                <a:ea typeface="Arial"/>
                <a:cs typeface="Arial"/>
              </a:defRPr>
            </a:pPr>
          </a:p>
        </c:txPr>
        <c:crossAx val="48672768"/>
      </c:catAx>
      <c:valAx>
        <c:axId val="48672768"/>
        <c:scaling>
          <c:orientation val="minMax"/>
          <c:max val="0.6"/>
          <c:min val="0"/>
        </c:scaling>
        <c:delete val="0"/>
        <c:axPos val="l"/>
        <c:majorGridlines>
          <c:spPr>
            <a:ln xmlns:a="http://schemas.openxmlformats.org/drawingml/2006/main" w="9525">
              <a:solidFill>
                <a:srgbClr val="EEF2F4"/>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5F6B76"/>
                </a:solidFill>
                <a:latin typeface="Arial"/>
                <a:ea typeface="Arial"/>
                <a:cs typeface="Arial"/>
              </a:defRPr>
            </a:pPr>
          </a:p>
        </c:txPr>
        <c:crossAx val="48650112"/>
        <c:crossBetween val="between"/>
        <c:majorUnit val="0.1"/>
      </c:valAx>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5F6B76"/>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FPS</c:v>
          </c:tx>
          <c:spPr>
            <a:solidFill xmlns:a="http://schemas.openxmlformats.org/drawingml/2006/main">
              <a:srgbClr val="3B7D61"/>
            </a:solidFill>
          </c:spPr>
          <c:invertIfNegative val="0"/>
          <c:cat>
            <c:strRef>
              <c:f>'Chart Data'!$A$2:$A$4</c:f>
              <c:strCache>
                <c:ptCount val="3"/>
                <c:pt idx="0">
                  <c:v>SSD300-VGG16</c:v>
                </c:pt>
                <c:pt idx="1">
                  <c:v>YOLOv8s</c:v>
                </c:pt>
                <c:pt idx="2">
                  <c:v>YOLO11x</c:v>
                </c:pt>
              </c:strCache>
            </c:strRef>
          </c:cat>
          <c:val>
            <c:numRef>
              <c:f>'Chart Data'!$B$2:$B$4</c:f>
              <c:numCache>
                <c:formatCode>General</c:formatCode>
                <c:ptCount val="3"/>
                <c:pt idx="0">
                  <c:v>166.8</c:v>
                </c:pt>
                <c:pt idx="1">
                  <c:v>119.9</c:v>
                </c:pt>
                <c:pt idx="2">
                  <c:v>65.2</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125" b="1">
                  <a:solidFill>
                    <a:srgbClr val="17212B"/>
                  </a:solidFill>
                  <a:latin typeface="Arial"/>
                  <a:ea typeface="Arial"/>
                  <a:cs typeface="Arial"/>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l"/>
        <c:majorGridlines>
          <c:spPr>
            <a:ln xmlns:a="http://schemas.openxmlformats.org/drawingml/2006/main" w="9525">
              <a:solidFill>
                <a:srgbClr val="EEF2F4"/>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5F6B7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CFD8DD"/>
            </a:solidFill>
            <a:prstDash val="solid"/>
          </a:ln>
        </c:spPr>
        <c:txPr>
          <a:bodyPr xmlns:a="http://schemas.openxmlformats.org/drawingml/2006/main" anchorCtr="1"/>
          <a:lstStyle xmlns:a="http://schemas.openxmlformats.org/drawingml/2006/main"/>
          <a:p xmlns:a="http://schemas.openxmlformats.org/drawingml/2006/main">
            <a:pPr>
              <a:defRPr sz="1125">
                <a:solidFill>
                  <a:srgbClr val="5F6B76"/>
                </a:solidFill>
                <a:latin typeface="Arial"/>
                <a:ea typeface="Arial"/>
                <a:cs typeface="Arial"/>
              </a:defRPr>
            </a:pPr>
          </a:p>
        </c:txPr>
        <c:crossAx val="48650112"/>
        <c:crossBetween val="between"/>
      </c:valAx>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slide1.xml><?xml version="1.0" encoding="utf-8"?>
<p:sld xmlns:a="http://schemas.openxmlformats.org/drawingml/2006/main"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94360" y="365760"/>
            <a:ext cx="10972800" cy="914400"/>
          </a:xfrm>
          <a:prstGeom prst="rect">
            <a:avLst/>
          </a:prstGeom>
          <a:noFill/>
          <a:ln>
            <a:noFill/>
          </a:ln>
        </p:spPr>
        <p:txBody>
          <a:bodyPr wrap="square" lIns="0" rIns="0" tIns="0" bIns="0" anchor="t"/>
          <a:lstStyle/>
          <a:p>
            <a:pPr>
              <a:spcAft>
                <a:spcPts val="700"/>
              </a:spcAft>
            </a:pPr>
            <a:r>
              <a:rPr lang="vi-VN" sz="3400" b="1">
                <a:solidFill>
                  <a:srgbClr val="14293D"/>
                </a:solidFill>
                <a:latin typeface="Arial"/>
                <a:ea typeface="Arial"/>
                <a:cs typeface="Arial"/>
              </a:rPr>
              <a:t>Phát hiện phương tiện</a:t>
            </a:r>
          </a:p>
          <a:p>
            <a:pPr>
              <a:spcAft>
                <a:spcPts val="700"/>
              </a:spcAft>
            </a:pPr>
            <a:r>
              <a:rPr lang="vi-VN" sz="3400" b="1">
                <a:solidFill>
                  <a:srgbClr val="14293D"/>
                </a:solidFill>
                <a:latin typeface="Arial"/>
                <a:ea typeface="Arial"/>
                <a:cs typeface="Arial"/>
              </a:rPr>
              <a:t>vượt đèn đỏ</a:t>
            </a:r>
          </a:p>
        </p:txBody>
      </p:sp>
      <p:sp>
        <p:nvSpPr>
          <p:cNvPr id="3" name="Text 3"/>
          <p:cNvSpPr txBox="1"/>
          <p:nvPr/>
        </p:nvSpPr>
        <p:spPr>
          <a:xfrm>
            <a:off x="10789920" y="6446520"/>
            <a:ext cx="822960" cy="201168"/>
          </a:xfrm>
          <a:prstGeom prst="rect">
            <a:avLst/>
          </a:prstGeom>
          <a:noFill/>
          <a:ln>
            <a:noFill/>
          </a:ln>
        </p:spPr>
        <p:txBody>
          <a:bodyPr wrap="square" lIns="0" rIns="0" tIns="0" bIns="0" anchor="t"/>
          <a:lstStyle/>
          <a:p>
            <a:pPr>
              <a:spcAft>
                <a:spcPts val="700"/>
              </a:spcAft>
            </a:pPr>
            <a:r>
              <a:rPr lang="vi-VN" sz="1000" b="0">
                <a:solidFill>
                  <a:srgbClr val="526373"/>
                </a:solidFill>
                <a:latin typeface="Arial"/>
                <a:ea typeface="Arial"/>
                <a:cs typeface="Arial"/>
              </a:rPr>
              <a:t>01 / 10</a:t>
            </a:r>
          </a:p>
        </p:txBody>
      </p:sp>
      <p:sp>
        <p:nvSpPr>
          <p:cNvPr id="4" name="Text 4"/>
          <p:cNvSpPr txBox="1"/>
          <p:nvPr/>
        </p:nvSpPr>
        <p:spPr>
          <a:xfrm>
            <a:off x="640080" y="2103120"/>
            <a:ext cx="10881360" cy="640080"/>
          </a:xfrm>
          <a:prstGeom prst="rect">
            <a:avLst/>
          </a:prstGeom>
          <a:noFill/>
          <a:ln>
            <a:noFill/>
          </a:ln>
        </p:spPr>
        <p:txBody>
          <a:bodyPr wrap="square" lIns="0" rIns="0" tIns="0" bIns="0" anchor="t"/>
          <a:lstStyle/>
          <a:p>
            <a:pPr>
              <a:spcAft>
                <a:spcPts val="700"/>
              </a:spcAft>
            </a:pPr>
            <a:r>
              <a:rPr lang="vi-VN" sz="2800" b="0">
                <a:solidFill>
                  <a:srgbClr val="127A83"/>
                </a:solidFill>
                <a:latin typeface="Arial"/>
                <a:ea typeface="Arial"/>
                <a:cs typeface="Arial"/>
              </a:rPr>
              <a:t>Cách hoạt động, huấn luyện và đánh giá</a:t>
            </a:r>
          </a:p>
        </p:txBody>
      </p:sp>
      <p:sp>
        <p:nvSpPr>
          <p:cNvPr id="5" name="Text 5"/>
          <p:cNvSpPr txBox="1"/>
          <p:nvPr/>
        </p:nvSpPr>
        <p:spPr>
          <a:xfrm>
            <a:off x="640080" y="3337560"/>
            <a:ext cx="10698480" cy="1874520"/>
          </a:xfrm>
          <a:prstGeom prst="rect">
            <a:avLst/>
          </a:prstGeom>
          <a:noFill/>
          <a:ln>
            <a:noFill/>
          </a:ln>
        </p:spPr>
        <p:txBody>
          <a:bodyPr wrap="square" lIns="0" rIns="0" tIns="0" bIns="0" anchor="t"/>
          <a:lstStyle/>
          <a:p>
            <a:pPr>
              <a:spcAft>
                <a:spcPts val="700"/>
              </a:spcAft>
            </a:pPr>
            <a:r>
              <a:rPr lang="vi-VN" sz="2700" b="0">
                <a:solidFill>
                  <a:srgbClr val="14293D"/>
                </a:solidFill>
                <a:latin typeface="Arial"/>
                <a:ea typeface="Arial"/>
                <a:cs typeface="Arial"/>
              </a:rPr>
              <a:t>Video camera cố định</a:t>
            </a:r>
          </a:p>
          <a:p>
            <a:pPr>
              <a:spcAft>
                <a:spcPts val="700"/>
              </a:spcAft>
            </a:pPr>
            <a:r>
              <a:rPr lang="vi-VN" sz="2700" b="0">
                <a:solidFill>
                  <a:srgbClr val="14293D"/>
                </a:solidFill>
                <a:latin typeface="Arial"/>
                <a:ea typeface="Arial"/>
                <a:cs typeface="Arial"/>
              </a:rPr>
              <a:t>YOLO nhận diện xe, ByteTrack theo dõi ID</a:t>
            </a:r>
          </a:p>
          <a:p>
            <a:pPr>
              <a:spcAft>
                <a:spcPts val="700"/>
              </a:spcAft>
            </a:pPr>
            <a:r>
              <a:rPr lang="vi-VN" sz="2700" b="0">
                <a:solidFill>
                  <a:srgbClr val="14293D"/>
                </a:solidFill>
                <a:latin typeface="Arial"/>
                <a:ea typeface="Arial"/>
                <a:cs typeface="Arial"/>
              </a:rPr>
              <a:t>Trạng thái đèn và hình học xác định sự kiện</a:t>
            </a:r>
          </a:p>
        </p:txBody>
      </p:sp>
      <p:sp>
        <p:nvSpPr>
          <p:cNvPr id="6" name="Text 6"/>
          <p:cNvSpPr txBox="1"/>
          <p:nvPr/>
        </p:nvSpPr>
        <p:spPr>
          <a:xfrm>
            <a:off x="640080" y="5897880"/>
            <a:ext cx="10515600" cy="365760"/>
          </a:xfrm>
          <a:prstGeom prst="rect">
            <a:avLst/>
          </a:prstGeom>
          <a:noFill/>
          <a:ln>
            <a:noFill/>
          </a:ln>
        </p:spPr>
        <p:txBody>
          <a:bodyPr wrap="square" lIns="0" rIns="0" tIns="0" bIns="0" anchor="t"/>
          <a:lstStyle/>
          <a:p>
            <a:pPr>
              <a:spcAft>
                <a:spcPts val="700"/>
              </a:spcAft>
            </a:pPr>
            <a:r>
              <a:rPr lang="vi-VN" sz="1700" b="0">
                <a:solidFill>
                  <a:srgbClr val="526373"/>
                </a:solidFill>
                <a:latin typeface="Arial"/>
                <a:ea typeface="Arial"/>
                <a:cs typeface="Arial"/>
              </a:rPr>
              <a:t>Báo cáo tóm tắt dự án RedLight Detection</a:t>
            </a:r>
          </a:p>
        </p:txBody>
      </p:sp>
    </p:spTree>
  </p:cSld>
  <p:clrMapOvr>
    <a:masterClrMapping/>
  </p:clrMapOvr>
</p:sld>
</file>

<file path=ppt/slides/slide2.xml><?xml version="1.0" encoding="utf-8"?>
<p:sld xmlns:a="http://schemas.openxmlformats.org/drawingml/2006/main"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94360" y="365760"/>
            <a:ext cx="10972800" cy="914400"/>
          </a:xfrm>
          <a:prstGeom prst="rect">
            <a:avLst/>
          </a:prstGeom>
          <a:noFill/>
          <a:ln>
            <a:noFill/>
          </a:ln>
        </p:spPr>
        <p:txBody>
          <a:bodyPr wrap="square" lIns="0" rIns="0" tIns="0" bIns="0" anchor="t"/>
          <a:lstStyle/>
          <a:p>
            <a:pPr>
              <a:spcAft>
                <a:spcPts val="700"/>
              </a:spcAft>
            </a:pPr>
            <a:r>
              <a:rPr lang="vi-VN" sz="3400" b="1">
                <a:solidFill>
                  <a:srgbClr val="14293D"/>
                </a:solidFill>
                <a:latin typeface="Arial"/>
                <a:ea typeface="Arial"/>
                <a:cs typeface="Arial"/>
              </a:rPr>
              <a:t>Luồng xử lý và thuật toán</a:t>
            </a:r>
          </a:p>
        </p:txBody>
      </p:sp>
      <p:sp>
        <p:nvSpPr>
          <p:cNvPr id="3" name="Text 3"/>
          <p:cNvSpPr txBox="1"/>
          <p:nvPr/>
        </p:nvSpPr>
        <p:spPr>
          <a:xfrm>
            <a:off x="10789920" y="6446520"/>
            <a:ext cx="822960" cy="201168"/>
          </a:xfrm>
          <a:prstGeom prst="rect">
            <a:avLst/>
          </a:prstGeom>
          <a:noFill/>
          <a:ln>
            <a:noFill/>
          </a:ln>
        </p:spPr>
        <p:txBody>
          <a:bodyPr wrap="square" lIns="0" rIns="0" tIns="0" bIns="0" anchor="t"/>
          <a:lstStyle/>
          <a:p>
            <a:pPr>
              <a:spcAft>
                <a:spcPts val="700"/>
              </a:spcAft>
            </a:pPr>
            <a:r>
              <a:rPr lang="vi-VN" sz="1000" b="0">
                <a:solidFill>
                  <a:srgbClr val="526373"/>
                </a:solidFill>
                <a:latin typeface="Arial"/>
                <a:ea typeface="Arial"/>
                <a:cs typeface="Arial"/>
              </a:rPr>
              <a:t>02 / 10</a:t>
            </a:r>
          </a:p>
        </p:txBody>
      </p:sp>
      <p:sp>
        <p:nvSpPr>
          <p:cNvPr id="4" name="Text 4"/>
          <p:cNvSpPr txBox="1"/>
          <p:nvPr/>
        </p:nvSpPr>
        <p:spPr>
          <a:xfrm>
            <a:off x="640080" y="1600200"/>
            <a:ext cx="2788920" cy="365760"/>
          </a:xfrm>
          <a:prstGeom prst="rect">
            <a:avLst/>
          </a:prstGeom>
          <a:noFill/>
          <a:ln>
            <a:noFill/>
          </a:ln>
        </p:spPr>
        <p:txBody>
          <a:bodyPr wrap="square" lIns="0" rIns="0" tIns="0" bIns="0" anchor="t"/>
          <a:lstStyle/>
          <a:p>
            <a:pPr>
              <a:spcAft>
                <a:spcPts val="700"/>
              </a:spcAft>
            </a:pPr>
            <a:r>
              <a:rPr lang="vi-VN" sz="2300" b="1">
                <a:solidFill>
                  <a:srgbClr val="127A83"/>
                </a:solidFill>
                <a:latin typeface="Arial"/>
                <a:ea typeface="Arial"/>
                <a:cs typeface="Arial"/>
              </a:rPr>
              <a:t>01  Thiết lập camera</a:t>
            </a:r>
          </a:p>
        </p:txBody>
      </p:sp>
      <p:sp>
        <p:nvSpPr>
          <p:cNvPr id="5" name="Text 5"/>
          <p:cNvSpPr txBox="1"/>
          <p:nvPr/>
        </p:nvSpPr>
        <p:spPr>
          <a:xfrm>
            <a:off x="3566160" y="1600200"/>
            <a:ext cx="7909560" cy="749808"/>
          </a:xfrm>
          <a:prstGeom prst="rect">
            <a:avLst/>
          </a:prstGeom>
          <a:noFill/>
          <a:ln>
            <a:noFill/>
          </a:ln>
        </p:spPr>
        <p:txBody>
          <a:bodyPr wrap="square" lIns="0" rIns="0" tIns="0" bIns="0" anchor="t"/>
          <a:lstStyle/>
          <a:p>
            <a:pPr>
              <a:spcAft>
                <a:spcPts val="700"/>
              </a:spcAft>
            </a:pPr>
            <a:r>
              <a:rPr lang="vi-VN" sz="2300" b="0">
                <a:solidFill>
                  <a:srgbClr val="14293D"/>
                </a:solidFill>
                <a:latin typeface="Arial"/>
                <a:ea typeface="Arial"/>
                <a:cs typeface="Arial"/>
              </a:rPr>
              <a:t>Chọn vạch, hướng xe và vùng đèn theo làn.</a:t>
            </a:r>
          </a:p>
        </p:txBody>
      </p:sp>
      <p:sp>
        <p:nvSpPr>
          <p:cNvPr id="6" name="Text 6"/>
          <p:cNvSpPr txBox="1"/>
          <p:nvPr/>
        </p:nvSpPr>
        <p:spPr>
          <a:xfrm>
            <a:off x="640080" y="2624328"/>
            <a:ext cx="2788920" cy="365760"/>
          </a:xfrm>
          <a:prstGeom prst="rect">
            <a:avLst/>
          </a:prstGeom>
          <a:noFill/>
          <a:ln>
            <a:noFill/>
          </a:ln>
        </p:spPr>
        <p:txBody>
          <a:bodyPr wrap="square" lIns="0" rIns="0" tIns="0" bIns="0" anchor="t"/>
          <a:lstStyle/>
          <a:p>
            <a:pPr>
              <a:spcAft>
                <a:spcPts val="700"/>
              </a:spcAft>
            </a:pPr>
            <a:r>
              <a:rPr lang="vi-VN" sz="2300" b="1">
                <a:solidFill>
                  <a:srgbClr val="127A83"/>
                </a:solidFill>
                <a:latin typeface="Arial"/>
                <a:ea typeface="Arial"/>
                <a:cs typeface="Arial"/>
              </a:rPr>
              <a:t>02  Nhận diện xe</a:t>
            </a:r>
          </a:p>
        </p:txBody>
      </p:sp>
      <p:sp>
        <p:nvSpPr>
          <p:cNvPr id="7" name="Text 7"/>
          <p:cNvSpPr txBox="1"/>
          <p:nvPr/>
        </p:nvSpPr>
        <p:spPr>
          <a:xfrm>
            <a:off x="3566160" y="2624328"/>
            <a:ext cx="7909560" cy="749808"/>
          </a:xfrm>
          <a:prstGeom prst="rect">
            <a:avLst/>
          </a:prstGeom>
          <a:noFill/>
          <a:ln>
            <a:noFill/>
          </a:ln>
        </p:spPr>
        <p:txBody>
          <a:bodyPr wrap="square" lIns="0" rIns="0" tIns="0" bIns="0" anchor="t"/>
          <a:lstStyle/>
          <a:p>
            <a:pPr>
              <a:spcAft>
                <a:spcPts val="700"/>
              </a:spcAft>
            </a:pPr>
            <a:r>
              <a:rPr lang="vi-VN" sz="2300" b="0">
                <a:solidFill>
                  <a:srgbClr val="14293D"/>
                </a:solidFill>
                <a:latin typeface="Arial"/>
                <a:ea typeface="Arial"/>
                <a:cs typeface="Arial"/>
              </a:rPr>
              <a:t>YOLO11x tìm xe. ByteTrack duy trì ID qua các frame.</a:t>
            </a:r>
          </a:p>
        </p:txBody>
      </p:sp>
      <p:sp>
        <p:nvSpPr>
          <p:cNvPr id="8" name="Text 8"/>
          <p:cNvSpPr txBox="1"/>
          <p:nvPr/>
        </p:nvSpPr>
        <p:spPr>
          <a:xfrm>
            <a:off x="640080" y="3648456"/>
            <a:ext cx="2788920" cy="365760"/>
          </a:xfrm>
          <a:prstGeom prst="rect">
            <a:avLst/>
          </a:prstGeom>
          <a:noFill/>
          <a:ln>
            <a:noFill/>
          </a:ln>
        </p:spPr>
        <p:txBody>
          <a:bodyPr wrap="square" lIns="0" rIns="0" tIns="0" bIns="0" anchor="t"/>
          <a:lstStyle/>
          <a:p>
            <a:pPr>
              <a:spcAft>
                <a:spcPts val="700"/>
              </a:spcAft>
            </a:pPr>
            <a:r>
              <a:rPr lang="vi-VN" sz="2300" b="1">
                <a:solidFill>
                  <a:srgbClr val="127A83"/>
                </a:solidFill>
                <a:latin typeface="Arial"/>
                <a:ea typeface="Arial"/>
                <a:cs typeface="Arial"/>
              </a:rPr>
              <a:t>03  Đọc trạng thái đèn</a:t>
            </a:r>
          </a:p>
        </p:txBody>
      </p:sp>
      <p:sp>
        <p:nvSpPr>
          <p:cNvPr id="9" name="Text 9"/>
          <p:cNvSpPr txBox="1"/>
          <p:nvPr/>
        </p:nvSpPr>
        <p:spPr>
          <a:xfrm>
            <a:off x="3566160" y="3648456"/>
            <a:ext cx="7909560" cy="749808"/>
          </a:xfrm>
          <a:prstGeom prst="rect">
            <a:avLst/>
          </a:prstGeom>
          <a:noFill/>
          <a:ln>
            <a:noFill/>
          </a:ln>
        </p:spPr>
        <p:txBody>
          <a:bodyPr wrap="square" lIns="0" rIns="0" tIns="0" bIns="0" anchor="t"/>
          <a:lstStyle/>
          <a:p>
            <a:pPr>
              <a:spcAft>
                <a:spcPts val="700"/>
              </a:spcAft>
            </a:pPr>
            <a:r>
              <a:rPr lang="vi-VN" sz="2300" b="0">
                <a:solidFill>
                  <a:srgbClr val="14293D"/>
                </a:solidFill>
                <a:latin typeface="Arial"/>
                <a:ea typeface="Arial"/>
                <a:cs typeface="Arial"/>
              </a:rPr>
              <a:t>YOLOv8s tìm đèn. MobileNetV2 kết hợp HSV đọc màu.</a:t>
            </a:r>
          </a:p>
        </p:txBody>
      </p:sp>
      <p:sp>
        <p:nvSpPr>
          <p:cNvPr id="10" name="Text 10"/>
          <p:cNvSpPr txBox="1"/>
          <p:nvPr/>
        </p:nvSpPr>
        <p:spPr>
          <a:xfrm>
            <a:off x="640080" y="4672584"/>
            <a:ext cx="2788920" cy="365760"/>
          </a:xfrm>
          <a:prstGeom prst="rect">
            <a:avLst/>
          </a:prstGeom>
          <a:noFill/>
          <a:ln>
            <a:noFill/>
          </a:ln>
        </p:spPr>
        <p:txBody>
          <a:bodyPr wrap="square" lIns="0" rIns="0" tIns="0" bIns="0" anchor="t"/>
          <a:lstStyle/>
          <a:p>
            <a:pPr>
              <a:spcAft>
                <a:spcPts val="700"/>
              </a:spcAft>
            </a:pPr>
            <a:r>
              <a:rPr lang="vi-VN" sz="2300" b="1">
                <a:solidFill>
                  <a:srgbClr val="127A83"/>
                </a:solidFill>
                <a:latin typeface="Arial"/>
                <a:ea typeface="Arial"/>
                <a:cs typeface="Arial"/>
              </a:rPr>
              <a:t>04  Kiểm tra và lưu</a:t>
            </a:r>
          </a:p>
        </p:txBody>
      </p:sp>
      <p:sp>
        <p:nvSpPr>
          <p:cNvPr id="11" name="Text 11"/>
          <p:cNvSpPr txBox="1"/>
          <p:nvPr/>
        </p:nvSpPr>
        <p:spPr>
          <a:xfrm>
            <a:off x="3566160" y="4672584"/>
            <a:ext cx="7909560" cy="749808"/>
          </a:xfrm>
          <a:prstGeom prst="rect">
            <a:avLst/>
          </a:prstGeom>
          <a:noFill/>
          <a:ln>
            <a:noFill/>
          </a:ln>
        </p:spPr>
        <p:txBody>
          <a:bodyPr wrap="square" lIns="0" rIns="0" tIns="0" bIns="0" anchor="t"/>
          <a:lstStyle/>
          <a:p>
            <a:pPr>
              <a:spcAft>
                <a:spcPts val="700"/>
              </a:spcAft>
            </a:pPr>
            <a:r>
              <a:rPr lang="vi-VN" sz="2300" b="0">
                <a:solidFill>
                  <a:srgbClr val="14293D"/>
                </a:solidFill>
                <a:latin typeface="Arial"/>
                <a:ea typeface="Arial"/>
                <a:cs typeface="Arial"/>
              </a:rPr>
              <a:t>Theo dõi xe cắt vạch, xác nhận rồi lưu ảnh và thời điểm.</a:t>
            </a:r>
          </a:p>
        </p:txBody>
      </p:sp>
      <p:sp>
        <p:nvSpPr>
          <p:cNvPr id="12" name="Text 12"/>
          <p:cNvSpPr txBox="1"/>
          <p:nvPr/>
        </p:nvSpPr>
        <p:spPr>
          <a:xfrm>
            <a:off x="640080" y="5925312"/>
            <a:ext cx="10972800" cy="320040"/>
          </a:xfrm>
          <a:prstGeom prst="rect">
            <a:avLst/>
          </a:prstGeom>
          <a:noFill/>
          <a:ln>
            <a:noFill/>
          </a:ln>
        </p:spPr>
        <p:txBody>
          <a:bodyPr wrap="square" lIns="0" rIns="0" tIns="0" bIns="0" anchor="t"/>
          <a:lstStyle/>
          <a:p>
            <a:pPr>
              <a:spcAft>
                <a:spcPts val="700"/>
              </a:spcAft>
            </a:pPr>
            <a:r>
              <a:rPr lang="vi-VN" sz="1800" b="0">
                <a:solidFill>
                  <a:srgbClr val="526373"/>
                </a:solidFill>
                <a:latin typeface="Arial"/>
                <a:ea typeface="Arial"/>
                <a:cs typeface="Arial"/>
              </a:rPr>
              <a:t>Đầu ra: video minh họa, sự kiện JSON/CSV và ảnh bằng chứng</a:t>
            </a:r>
          </a:p>
        </p:txBody>
      </p:sp>
    </p:spTree>
  </p:cSld>
  <p:clrMapOvr>
    <a:masterClrMapping/>
  </p:clrMapOvr>
</p:sld>
</file>

<file path=ppt/slides/slide3.xml><?xml version="1.0" encoding="utf-8"?>
<p:sld xmlns:a="http://schemas.openxmlformats.org/drawingml/2006/main"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94360" y="365760"/>
            <a:ext cx="10972800" cy="914400"/>
          </a:xfrm>
          <a:prstGeom prst="rect">
            <a:avLst/>
          </a:prstGeom>
          <a:noFill/>
          <a:ln>
            <a:noFill/>
          </a:ln>
        </p:spPr>
        <p:txBody>
          <a:bodyPr wrap="square" lIns="0" rIns="0" tIns="0" bIns="0" anchor="t"/>
          <a:lstStyle/>
          <a:p>
            <a:pPr>
              <a:spcAft>
                <a:spcPts val="700"/>
              </a:spcAft>
            </a:pPr>
            <a:r>
              <a:rPr lang="vi-VN" sz="3400" b="1">
                <a:solidFill>
                  <a:srgbClr val="14293D"/>
                </a:solidFill>
                <a:latin typeface="Arial"/>
                <a:ea typeface="Arial"/>
                <a:cs typeface="Arial"/>
              </a:rPr>
              <a:t>Điều kiện xác nhận xe vượt vạch</a:t>
            </a:r>
          </a:p>
        </p:txBody>
      </p:sp>
      <p:sp>
        <p:nvSpPr>
          <p:cNvPr id="3" name="Text 3"/>
          <p:cNvSpPr txBox="1"/>
          <p:nvPr/>
        </p:nvSpPr>
        <p:spPr>
          <a:xfrm>
            <a:off x="10789920" y="6446520"/>
            <a:ext cx="822960" cy="201168"/>
          </a:xfrm>
          <a:prstGeom prst="rect">
            <a:avLst/>
          </a:prstGeom>
          <a:noFill/>
          <a:ln>
            <a:noFill/>
          </a:ln>
        </p:spPr>
        <p:txBody>
          <a:bodyPr wrap="square" lIns="0" rIns="0" tIns="0" bIns="0" anchor="t"/>
          <a:lstStyle/>
          <a:p>
            <a:pPr>
              <a:spcAft>
                <a:spcPts val="700"/>
              </a:spcAft>
            </a:pPr>
            <a:r>
              <a:rPr lang="vi-VN" sz="1000" b="0">
                <a:solidFill>
                  <a:srgbClr val="526373"/>
                </a:solidFill>
                <a:latin typeface="Arial"/>
                <a:ea typeface="Arial"/>
                <a:cs typeface="Arial"/>
              </a:rPr>
              <a:t>03 / 10</a:t>
            </a:r>
          </a:p>
        </p:txBody>
      </p:sp>
      <p:sp>
        <p:nvSpPr>
          <p:cNvPr id="4" name="Text 4"/>
          <p:cNvSpPr txBox="1"/>
          <p:nvPr/>
        </p:nvSpPr>
        <p:spPr>
          <a:xfrm>
            <a:off x="640080" y="1600200"/>
            <a:ext cx="2788920" cy="365760"/>
          </a:xfrm>
          <a:prstGeom prst="rect">
            <a:avLst/>
          </a:prstGeom>
          <a:noFill/>
          <a:ln>
            <a:noFill/>
          </a:ln>
        </p:spPr>
        <p:txBody>
          <a:bodyPr wrap="square" lIns="0" rIns="0" tIns="0" bIns="0" anchor="t"/>
          <a:lstStyle/>
          <a:p>
            <a:pPr>
              <a:spcAft>
                <a:spcPts val="700"/>
              </a:spcAft>
            </a:pPr>
            <a:r>
              <a:rPr lang="vi-VN" sz="2300" b="1">
                <a:solidFill>
                  <a:srgbClr val="127A83"/>
                </a:solidFill>
                <a:latin typeface="Arial"/>
                <a:ea typeface="Arial"/>
                <a:cs typeface="Arial"/>
              </a:rPr>
              <a:t>Trước vạch</a:t>
            </a:r>
          </a:p>
        </p:txBody>
      </p:sp>
      <p:sp>
        <p:nvSpPr>
          <p:cNvPr id="5" name="Text 5"/>
          <p:cNvSpPr txBox="1"/>
          <p:nvPr/>
        </p:nvSpPr>
        <p:spPr>
          <a:xfrm>
            <a:off x="3566160" y="1600200"/>
            <a:ext cx="7909560" cy="749808"/>
          </a:xfrm>
          <a:prstGeom prst="rect">
            <a:avLst/>
          </a:prstGeom>
          <a:noFill/>
          <a:ln>
            <a:noFill/>
          </a:ln>
        </p:spPr>
        <p:txBody>
          <a:bodyPr wrap="square" lIns="0" rIns="0" tIns="0" bIns="0" anchor="t"/>
          <a:lstStyle/>
          <a:p>
            <a:pPr>
              <a:spcAft>
                <a:spcPts val="700"/>
              </a:spcAft>
            </a:pPr>
            <a:r>
              <a:rPr lang="vi-VN" sz="2300" b="0">
                <a:solidFill>
                  <a:srgbClr val="14293D"/>
                </a:solidFill>
                <a:latin typeface="Arial"/>
                <a:ea typeface="Arial"/>
                <a:cs typeface="Arial"/>
              </a:rPr>
              <a:t>Đã quan sát điểm đại diện của xe ở phía trước.</a:t>
            </a:r>
          </a:p>
        </p:txBody>
      </p:sp>
      <p:sp>
        <p:nvSpPr>
          <p:cNvPr id="6" name="Text 6"/>
          <p:cNvSpPr txBox="1"/>
          <p:nvPr/>
        </p:nvSpPr>
        <p:spPr>
          <a:xfrm>
            <a:off x="640080" y="2606040"/>
            <a:ext cx="2788920" cy="365760"/>
          </a:xfrm>
          <a:prstGeom prst="rect">
            <a:avLst/>
          </a:prstGeom>
          <a:noFill/>
          <a:ln>
            <a:noFill/>
          </a:ln>
        </p:spPr>
        <p:txBody>
          <a:bodyPr wrap="square" lIns="0" rIns="0" tIns="0" bIns="0" anchor="t"/>
          <a:lstStyle/>
          <a:p>
            <a:pPr>
              <a:spcAft>
                <a:spcPts val="700"/>
              </a:spcAft>
            </a:pPr>
            <a:r>
              <a:rPr lang="vi-VN" sz="2300" b="1">
                <a:solidFill>
                  <a:srgbClr val="127A83"/>
                </a:solidFill>
                <a:latin typeface="Arial"/>
                <a:ea typeface="Arial"/>
                <a:cs typeface="Arial"/>
              </a:rPr>
              <a:t>Cắt vạch đúng hướng</a:t>
            </a:r>
          </a:p>
        </p:txBody>
      </p:sp>
      <p:sp>
        <p:nvSpPr>
          <p:cNvPr id="7" name="Text 7"/>
          <p:cNvSpPr txBox="1"/>
          <p:nvPr/>
        </p:nvSpPr>
        <p:spPr>
          <a:xfrm>
            <a:off x="3566160" y="2606040"/>
            <a:ext cx="7909560" cy="749808"/>
          </a:xfrm>
          <a:prstGeom prst="rect">
            <a:avLst/>
          </a:prstGeom>
          <a:noFill/>
          <a:ln>
            <a:noFill/>
          </a:ln>
        </p:spPr>
        <p:txBody>
          <a:bodyPr wrap="square" lIns="0" rIns="0" tIns="0" bIns="0" anchor="t"/>
          <a:lstStyle/>
          <a:p>
            <a:pPr>
              <a:spcAft>
                <a:spcPts val="700"/>
              </a:spcAft>
            </a:pPr>
            <a:r>
              <a:rPr lang="vi-VN" sz="2300" b="0">
                <a:solidFill>
                  <a:srgbClr val="14293D"/>
                </a:solidFill>
                <a:latin typeface="Arial"/>
                <a:ea typeface="Arial"/>
                <a:cs typeface="Arial"/>
              </a:rPr>
              <a:t>Quỹ đạo phải cắt đoạn vạch đang giám sát.</a:t>
            </a:r>
          </a:p>
        </p:txBody>
      </p:sp>
      <p:sp>
        <p:nvSpPr>
          <p:cNvPr id="8" name="Text 8"/>
          <p:cNvSpPr txBox="1"/>
          <p:nvPr/>
        </p:nvSpPr>
        <p:spPr>
          <a:xfrm>
            <a:off x="640080" y="3611880"/>
            <a:ext cx="2788920" cy="365760"/>
          </a:xfrm>
          <a:prstGeom prst="rect">
            <a:avLst/>
          </a:prstGeom>
          <a:noFill/>
          <a:ln>
            <a:noFill/>
          </a:ln>
        </p:spPr>
        <p:txBody>
          <a:bodyPr wrap="square" lIns="0" rIns="0" tIns="0" bIns="0" anchor="t"/>
          <a:lstStyle/>
          <a:p>
            <a:pPr>
              <a:spcAft>
                <a:spcPts val="700"/>
              </a:spcAft>
            </a:pPr>
            <a:r>
              <a:rPr lang="vi-VN" sz="2300" b="1">
                <a:solidFill>
                  <a:srgbClr val="127A83"/>
                </a:solidFill>
                <a:latin typeface="Arial"/>
                <a:ea typeface="Arial"/>
                <a:cs typeface="Arial"/>
              </a:rPr>
              <a:t>Đèn đỏ khi cắt</a:t>
            </a:r>
          </a:p>
        </p:txBody>
      </p:sp>
      <p:sp>
        <p:nvSpPr>
          <p:cNvPr id="9" name="Text 9"/>
          <p:cNvSpPr txBox="1"/>
          <p:nvPr/>
        </p:nvSpPr>
        <p:spPr>
          <a:xfrm>
            <a:off x="3566160" y="3611880"/>
            <a:ext cx="7909560" cy="749808"/>
          </a:xfrm>
          <a:prstGeom prst="rect">
            <a:avLst/>
          </a:prstGeom>
          <a:noFill/>
          <a:ln>
            <a:noFill/>
          </a:ln>
        </p:spPr>
        <p:txBody>
          <a:bodyPr wrap="square" lIns="0" rIns="0" tIns="0" bIns="0" anchor="t"/>
          <a:lstStyle/>
          <a:p>
            <a:pPr>
              <a:spcAft>
                <a:spcPts val="700"/>
              </a:spcAft>
            </a:pPr>
            <a:r>
              <a:rPr lang="vi-VN" sz="2300" b="0">
                <a:solidFill>
                  <a:srgbClr val="14293D"/>
                </a:solidFill>
                <a:latin typeface="Arial"/>
                <a:ea typeface="Arial"/>
                <a:cs typeface="Arial"/>
              </a:rPr>
              <a:t>Dùng trạng thái đèn của đúng làn xe.</a:t>
            </a:r>
          </a:p>
        </p:txBody>
      </p:sp>
      <p:sp>
        <p:nvSpPr>
          <p:cNvPr id="10" name="Text 10"/>
          <p:cNvSpPr txBox="1"/>
          <p:nvPr/>
        </p:nvSpPr>
        <p:spPr>
          <a:xfrm>
            <a:off x="640080" y="4617720"/>
            <a:ext cx="2788920" cy="365760"/>
          </a:xfrm>
          <a:prstGeom prst="rect">
            <a:avLst/>
          </a:prstGeom>
          <a:noFill/>
          <a:ln>
            <a:noFill/>
          </a:ln>
        </p:spPr>
        <p:txBody>
          <a:bodyPr wrap="square" lIns="0" rIns="0" tIns="0" bIns="0" anchor="t"/>
          <a:lstStyle/>
          <a:p>
            <a:pPr>
              <a:spcAft>
                <a:spcPts val="700"/>
              </a:spcAft>
            </a:pPr>
            <a:r>
              <a:rPr lang="vi-VN" sz="2300" b="1">
                <a:solidFill>
                  <a:srgbClr val="127A83"/>
                </a:solidFill>
                <a:latin typeface="Arial"/>
                <a:ea typeface="Arial"/>
                <a:cs typeface="Arial"/>
              </a:rPr>
              <a:t>Xác nhận vị trí</a:t>
            </a:r>
          </a:p>
        </p:txBody>
      </p:sp>
      <p:sp>
        <p:nvSpPr>
          <p:cNvPr id="11" name="Text 11"/>
          <p:cNvSpPr txBox="1"/>
          <p:nvPr/>
        </p:nvSpPr>
        <p:spPr>
          <a:xfrm>
            <a:off x="3566160" y="4617720"/>
            <a:ext cx="7909560" cy="749808"/>
          </a:xfrm>
          <a:prstGeom prst="rect">
            <a:avLst/>
          </a:prstGeom>
          <a:noFill/>
          <a:ln>
            <a:noFill/>
          </a:ln>
        </p:spPr>
        <p:txBody>
          <a:bodyPr wrap="square" lIns="0" rIns="0" tIns="0" bIns="0" anchor="t"/>
          <a:lstStyle/>
          <a:p>
            <a:pPr>
              <a:spcAft>
                <a:spcPts val="700"/>
              </a:spcAft>
            </a:pPr>
            <a:r>
              <a:rPr lang="vi-VN" sz="2300" b="0">
                <a:solidFill>
                  <a:srgbClr val="14293D"/>
                </a:solidFill>
                <a:latin typeface="Arial"/>
                <a:ea typeface="Arial"/>
                <a:cs typeface="Arial"/>
              </a:rPr>
              <a:t>Xe ở phía sau đủ 3 quan sát. Mỗi ID ghi một lần.</a:t>
            </a:r>
          </a:p>
        </p:txBody>
      </p:sp>
      <p:sp>
        <p:nvSpPr>
          <p:cNvPr id="12" name="Text 12"/>
          <p:cNvSpPr txBox="1"/>
          <p:nvPr/>
        </p:nvSpPr>
        <p:spPr>
          <a:xfrm>
            <a:off x="640080" y="5852160"/>
            <a:ext cx="10972800" cy="365760"/>
          </a:xfrm>
          <a:prstGeom prst="rect">
            <a:avLst/>
          </a:prstGeom>
          <a:noFill/>
          <a:ln>
            <a:noFill/>
          </a:ln>
        </p:spPr>
        <p:txBody>
          <a:bodyPr wrap="square" lIns="0" rIns="0" tIns="0" bIns="0" anchor="t"/>
          <a:lstStyle/>
          <a:p>
            <a:pPr>
              <a:spcAft>
                <a:spcPts val="700"/>
              </a:spcAft>
            </a:pPr>
            <a:r>
              <a:rPr lang="vi-VN" sz="1900" b="0">
                <a:solidFill>
                  <a:srgbClr val="526373"/>
                </a:solidFill>
                <a:latin typeface="Arial"/>
                <a:ea typeface="Arial"/>
                <a:cs typeface="Arial"/>
              </a:rPr>
              <a:t>Điểm đại diện mặc định: trung điểm cạnh đáy khung bao xe</a:t>
            </a:r>
          </a:p>
        </p:txBody>
      </p:sp>
    </p:spTree>
  </p:cSld>
  <p:clrMapOvr>
    <a:masterClrMapping/>
  </p:clrMapOvr>
</p:sld>
</file>

<file path=ppt/slides/slide4.xml><?xml version="1.0" encoding="utf-8"?>
<p:sld xmlns:a="http://schemas.openxmlformats.org/drawingml/2006/main"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94360" y="365760"/>
            <a:ext cx="10972800" cy="914400"/>
          </a:xfrm>
          <a:prstGeom prst="rect">
            <a:avLst/>
          </a:prstGeom>
          <a:noFill/>
          <a:ln>
            <a:noFill/>
          </a:ln>
        </p:spPr>
        <p:txBody>
          <a:bodyPr wrap="square" lIns="0" rIns="0" tIns="0" bIns="0" anchor="t"/>
          <a:lstStyle/>
          <a:p>
            <a:pPr>
              <a:spcAft>
                <a:spcPts val="700"/>
              </a:spcAft>
            </a:pPr>
            <a:r>
              <a:rPr lang="vi-VN" sz="3400" b="1">
                <a:solidFill>
                  <a:srgbClr val="14293D"/>
                </a:solidFill>
                <a:latin typeface="Arial"/>
                <a:ea typeface="Arial"/>
                <a:cs typeface="Arial"/>
              </a:rPr>
              <a:t>Pretrained và fine tune trong project</a:t>
            </a:r>
          </a:p>
        </p:txBody>
      </p:sp>
      <p:sp>
        <p:nvSpPr>
          <p:cNvPr id="3" name="Text 3"/>
          <p:cNvSpPr txBox="1"/>
          <p:nvPr/>
        </p:nvSpPr>
        <p:spPr>
          <a:xfrm>
            <a:off x="10789920" y="6446520"/>
            <a:ext cx="822960" cy="201168"/>
          </a:xfrm>
          <a:prstGeom prst="rect">
            <a:avLst/>
          </a:prstGeom>
          <a:noFill/>
          <a:ln>
            <a:noFill/>
          </a:ln>
        </p:spPr>
        <p:txBody>
          <a:bodyPr wrap="square" lIns="0" rIns="0" tIns="0" bIns="0" anchor="t"/>
          <a:lstStyle/>
          <a:p>
            <a:pPr>
              <a:spcAft>
                <a:spcPts val="700"/>
              </a:spcAft>
            </a:pPr>
            <a:r>
              <a:rPr lang="vi-VN" sz="1000" b="0">
                <a:solidFill>
                  <a:srgbClr val="526373"/>
                </a:solidFill>
                <a:latin typeface="Arial"/>
                <a:ea typeface="Arial"/>
                <a:cs typeface="Arial"/>
              </a:rPr>
              <a:t>04 / 10</a:t>
            </a:r>
          </a:p>
        </p:txBody>
      </p:sp>
      <p:sp>
        <p:nvSpPr>
          <p:cNvPr id="4" name="Text 4"/>
          <p:cNvSpPr txBox="1"/>
          <p:nvPr/>
        </p:nvSpPr>
        <p:spPr>
          <a:xfrm>
            <a:off x="640080" y="1463040"/>
            <a:ext cx="5212080" cy="457200"/>
          </a:xfrm>
          <a:prstGeom prst="rect">
            <a:avLst/>
          </a:prstGeom>
          <a:noFill/>
          <a:ln>
            <a:noFill/>
          </a:ln>
        </p:spPr>
        <p:txBody>
          <a:bodyPr wrap="square" lIns="0" rIns="0" tIns="0" bIns="0" anchor="t"/>
          <a:lstStyle/>
          <a:p>
            <a:pPr>
              <a:spcAft>
                <a:spcPts val="700"/>
              </a:spcAft>
            </a:pPr>
            <a:r>
              <a:rPr lang="vi-VN" sz="2800" b="1">
                <a:solidFill>
                  <a:srgbClr val="127A83"/>
                </a:solidFill>
                <a:latin typeface="Arial"/>
                <a:ea typeface="Arial"/>
                <a:cs typeface="Arial"/>
              </a:rPr>
              <a:t>Pretrained</a:t>
            </a:r>
          </a:p>
        </p:txBody>
      </p:sp>
      <p:sp>
        <p:nvSpPr>
          <p:cNvPr id="5" name="Text 5"/>
          <p:cNvSpPr txBox="1"/>
          <p:nvPr/>
        </p:nvSpPr>
        <p:spPr>
          <a:xfrm>
            <a:off x="640080" y="2103120"/>
            <a:ext cx="5212080" cy="2057400"/>
          </a:xfrm>
          <a:prstGeom prst="rect">
            <a:avLst/>
          </a:prstGeom>
          <a:noFill/>
          <a:ln>
            <a:noFill/>
          </a:ln>
        </p:spPr>
        <p:txBody>
          <a:bodyPr wrap="square" lIns="0" rIns="0" tIns="0" bIns="0" anchor="t"/>
          <a:lstStyle/>
          <a:p>
            <a:pPr>
              <a:spcAft>
                <a:spcPts val="700"/>
              </a:spcAft>
            </a:pPr>
            <a:r>
              <a:rPr lang="vi-VN" sz="2400" b="0">
                <a:solidFill>
                  <a:srgbClr val="14293D"/>
                </a:solidFill>
                <a:latin typeface="Arial"/>
                <a:ea typeface="Arial"/>
                <a:cs typeface="Arial"/>
              </a:rPr>
              <a:t>Mô hình đã được huấn luyện trước.</a:t>
            </a:r>
          </a:p>
          <a:p>
            <a:pPr>
              <a:spcAft>
                <a:spcPts val="700"/>
              </a:spcAft>
            </a:pPr>
            <a:r>
              <a:rPr lang="vi-VN" sz="2400" b="0">
                <a:solidFill>
                  <a:srgbClr val="14293D"/>
                </a:solidFill>
                <a:latin typeface="Arial"/>
                <a:ea typeface="Arial"/>
                <a:cs typeface="Arial"/>
              </a:rPr>
              <a:t>Pipeline video đang dùng YOLO11x COCO, YOLOv8s COCO và MobileNetV2 có sẵn.</a:t>
            </a:r>
          </a:p>
        </p:txBody>
      </p:sp>
      <p:sp>
        <p:nvSpPr>
          <p:cNvPr id="6" name="Text 6"/>
          <p:cNvSpPr txBox="1"/>
          <p:nvPr/>
        </p:nvSpPr>
        <p:spPr>
          <a:xfrm>
            <a:off x="6400800" y="1463040"/>
            <a:ext cx="5120640" cy="457200"/>
          </a:xfrm>
          <a:prstGeom prst="rect">
            <a:avLst/>
          </a:prstGeom>
          <a:noFill/>
          <a:ln>
            <a:noFill/>
          </a:ln>
        </p:spPr>
        <p:txBody>
          <a:bodyPr wrap="square" lIns="0" rIns="0" tIns="0" bIns="0" anchor="t"/>
          <a:lstStyle/>
          <a:p>
            <a:pPr>
              <a:spcAft>
                <a:spcPts val="700"/>
              </a:spcAft>
            </a:pPr>
            <a:r>
              <a:rPr lang="vi-VN" sz="2800" b="1">
                <a:solidFill>
                  <a:srgbClr val="127A83"/>
                </a:solidFill>
                <a:latin typeface="Arial"/>
                <a:ea typeface="Arial"/>
                <a:cs typeface="Arial"/>
              </a:rPr>
              <a:t>Fine tune</a:t>
            </a:r>
          </a:p>
        </p:txBody>
      </p:sp>
      <p:sp>
        <p:nvSpPr>
          <p:cNvPr id="7" name="Text 7"/>
          <p:cNvSpPr txBox="1"/>
          <p:nvPr/>
        </p:nvSpPr>
        <p:spPr>
          <a:xfrm>
            <a:off x="6400800" y="2103120"/>
            <a:ext cx="5120640" cy="2286000"/>
          </a:xfrm>
          <a:prstGeom prst="rect">
            <a:avLst/>
          </a:prstGeom>
          <a:noFill/>
          <a:ln>
            <a:noFill/>
          </a:ln>
        </p:spPr>
        <p:txBody>
          <a:bodyPr wrap="square" lIns="0" rIns="0" tIns="0" bIns="0" anchor="t"/>
          <a:lstStyle/>
          <a:p>
            <a:pPr>
              <a:spcAft>
                <a:spcPts val="700"/>
              </a:spcAft>
            </a:pPr>
            <a:r>
              <a:rPr lang="vi-VN" sz="2400" b="0">
                <a:solidFill>
                  <a:srgbClr val="14293D"/>
                </a:solidFill>
                <a:latin typeface="Arial"/>
                <a:ea typeface="Arial"/>
                <a:cs typeface="Arial"/>
              </a:rPr>
              <a:t>Tiếp tục học từ trọng số pretrained.</a:t>
            </a:r>
          </a:p>
          <a:p>
            <a:pPr>
              <a:spcAft>
                <a:spcPts val="700"/>
              </a:spcAft>
            </a:pPr>
            <a:r>
              <a:rPr lang="vi-VN" sz="2400" b="0">
                <a:solidFill>
                  <a:srgbClr val="14293D"/>
                </a:solidFill>
                <a:latin typeface="Arial"/>
                <a:ea typeface="Arial"/>
                <a:cs typeface="Arial"/>
              </a:rPr>
              <a:t>Notebook đã fine tune SSD300-VGG16, YOLOv8s và YOLO11x để so sánh nhận diện xe.</a:t>
            </a:r>
          </a:p>
        </p:txBody>
      </p:sp>
      <p:sp>
        <p:nvSpPr>
          <p:cNvPr id="8" name="Text 8"/>
          <p:cNvSpPr txBox="1"/>
          <p:nvPr/>
        </p:nvSpPr>
        <p:spPr>
          <a:xfrm>
            <a:off x="640080" y="5074920"/>
            <a:ext cx="10881360" cy="868680"/>
          </a:xfrm>
          <a:prstGeom prst="rect">
            <a:avLst/>
          </a:prstGeom>
          <a:noFill/>
          <a:ln>
            <a:noFill/>
          </a:ln>
        </p:spPr>
        <p:txBody>
          <a:bodyPr wrap="square" lIns="0" rIns="0" tIns="0" bIns="0" anchor="t"/>
          <a:lstStyle/>
          <a:p>
            <a:pPr>
              <a:spcAft>
                <a:spcPts val="700"/>
              </a:spcAft>
            </a:pPr>
            <a:r>
              <a:rPr lang="vi-VN" sz="2300" b="1">
                <a:solidFill>
                  <a:srgbClr val="14293D"/>
                </a:solidFill>
                <a:latin typeface="Arial"/>
                <a:ea typeface="Arial"/>
                <a:cs typeface="Arial"/>
              </a:rPr>
              <a:t>Không train từ đầu. ByteTrack và luật cắt vạch không cần training trong project.</a:t>
            </a:r>
          </a:p>
        </p:txBody>
      </p:sp>
    </p:spTree>
  </p:cSld>
  <p:clrMapOvr>
    <a:masterClrMapping/>
  </p:clrMapOvr>
</p:sld>
</file>

<file path=ppt/slides/slide5.xml><?xml version="1.0" encoding="utf-8"?>
<ns0:sld xmlns:ns0="http://schemas.openxmlformats.org/presentationml/2006/main" xmlns:ns1="http://schemas.openxmlformats.org/drawingml/2006/main">
  <ns0:cSld>
    <ns0:bg>
      <ns0:bgPr>
        <ns1:solidFill>
          <ns1:srgbClr val="FFFFFF"/>
        </ns1:solidFill>
        <ns1:effectLst/>
      </ns0:bgPr>
    </ns0:bg>
    <ns0:spTree>
      <ns0:nvGrpSpPr>
        <ns0:cNvPr id="1" name=""/>
        <ns0:cNvGrpSpPr/>
        <ns0:nvPr/>
      </ns0:nvGrpSpPr>
      <ns0:grpSpPr>
        <ns1:xfrm>
          <ns1:off x="0" y="0"/>
          <ns1:ext cx="0" cy="0"/>
          <ns1:chOff x="0" y="0"/>
          <ns1:chExt cx="0" cy="0"/>
        </ns1:xfrm>
      </ns0:grpSpPr>
      <ns0:sp>
        <ns0:nvSpPr>
          <ns0:cNvPr id="2" name="Text 2"/>
          <ns0:cNvSpPr txBox="1"/>
          <ns0:nvPr/>
        </ns0:nvSpPr>
        <ns0:spPr>
          <ns1:xfrm>
            <ns1:off x="594360" y="365760"/>
            <ns1:ext cx="10972800" cy="914400"/>
          </ns1:xfrm>
          <ns1:prstGeom prst="rect">
            <ns1:avLst/>
          </ns1:prstGeom>
          <ns1:noFill/>
          <ns1:ln>
            <ns1:noFill/>
          </ns1:ln>
        </ns0:spPr>
        <ns0:txBody>
          <ns1:bodyPr wrap="square" lIns="0" rIns="0" tIns="0" bIns="0" anchor="t"/>
          <ns1:lstStyle/>
          <ns1:p>
            <ns1:pPr>
              <ns1:spcAft>
                <ns1:spcPts val="700"/>
              </ns1:spcAft>
            </ns1:pPr>
            <ns1:r>
              <ns1:rPr lang="vi-VN" sz="3400" b="1">
                <ns1:solidFill>
                  <ns1:srgbClr val="14293D"/>
                </ns1:solidFill>
                <ns1:latin typeface="Arial"/>
                <ns1:ea typeface="Arial"/>
                <ns1:cs typeface="Arial"/>
              </ns1:rPr>
              <ns1:t>Dữ liệu và kết quả nhận diện xe</ns1:t>
            </ns1:r>
          </ns1:p>
        </ns0:txBody>
      </ns0:sp>
      <ns0:sp>
        <ns0:nvSpPr>
          <ns0:cNvPr id="3" name="Text 3"/>
          <ns0:cNvSpPr txBox="1"/>
          <ns0:nvPr/>
        </ns0:nvSpPr>
        <ns0:spPr>
          <ns1:xfrm>
            <ns1:off x="10789920" y="6446520"/>
            <ns1:ext cx="822960" cy="201168"/>
          </ns1:xfrm>
          <ns1:prstGeom prst="rect">
            <ns1:avLst/>
          </ns1:prstGeom>
          <ns1:noFill/>
          <ns1:ln>
            <ns1:noFill/>
          </ns1:ln>
        </ns0:spPr>
        <ns0:txBody>
          <ns1:bodyPr wrap="square" lIns="0" rIns="0" tIns="0" bIns="0" anchor="t"/>
          <ns1:lstStyle/>
          <ns1:p>
            <ns1:pPr>
              <ns1:spcAft>
                <ns1:spcPts val="700"/>
              </ns1:spcAft>
            </ns1:pPr>
            <ns1:r>
              <ns1:rPr lang="vi-VN" sz="1000" b="0">
                <ns1:solidFill>
                  <ns1:srgbClr val="526373"/>
                </ns1:solidFill>
                <ns1:latin typeface="Arial"/>
                <ns1:ea typeface="Arial"/>
                <ns1:cs typeface="Arial"/>
              </ns1:rPr>
              <ns1:t>05 / 10</ns1:t>
            </ns1:r>
          </ns1:p>
        </ns0:txBody>
      </ns0:sp>
      <ns0:sp>
        <ns0:nvSpPr>
          <ns0:cNvPr id="4" name="Text 4"/>
          <ns0:cNvSpPr txBox="1"/>
          <ns0:nvPr/>
        </ns0:nvSpPr>
        <ns0:spPr>
          <ns1:xfrm>
            <ns1:off x="640080" y="1371600"/>
            <ns1:ext cx="10972800" cy="914400"/>
          </ns1:xfrm>
          <ns1:prstGeom prst="rect">
            <ns1:avLst/>
          </ns1:prstGeom>
          <ns1:noFill/>
          <ns1:ln>
            <ns1:noFill/>
          </ns1:ln>
        </ns0:spPr>
        <ns0:txBody>
          <ns1:bodyPr wrap="square" lIns="0" rIns="0" tIns="0" bIns="0" anchor="t"/>
          <ns1:lstStyle/>
          <ns1:p>
            <ns1:pPr>
              <ns1:spcAft>
                <ns1:spcPts val="700"/>
              </ns1:spcAft>
            </ns1:pPr>
            <ns1:r>
              <ns1:rPr lang="vi-VN" sz="2300" b="0">
                <ns1:solidFill>
                  <ns1:srgbClr val="14293D"/>
                </ns1:solidFill>
                <ns1:latin typeface="Arial"/>
                <ns1:ea typeface="Arial"/>
                <ns1:cs typeface="Arial"/>
              </ns1:rPr>
              <ns1:t>COCO subset: 1.000 train, 200 validation, 200 test</ns1:t>
            </ns1:r>
          </ns1:p>
          <ns1:p>
            <ns1:pPr>
              <ns1:spcAft>
                <ns1:spcPts val="700"/>
              </ns1:spcAft>
            </ns1:pPr>
            <ns1:r>
              <ns1:rPr lang="vi-VN" sz="2300" b="0">
                <ns1:solidFill>
                  <ns1:srgbClr val="14293D"/>
                </ns1:solidFill>
                <ns1:latin typeface="Arial"/>
                <ns1:ea typeface="Arial"/>
                <ns1:cs typeface="Arial"/>
              </ns1:rPr>
              <ns1:t>5 lớp phương tiện, 80 epoch mỗi model, seed 42</ns1:t>
            </ns1:r>
          </ns1:p>
        </ns0:txBody>
      </ns0:sp>
      <ns0:graphicFrame>
        <ns0:nvGraphicFramePr>
          <ns0:cNvPr id="5" name="Bảng dữ liệu"/>
          <ns0:cNvGraphicFramePr/>
          <ns0:nvPr/>
        </ns0:nvGraphicFramePr>
        <ns0:xfrm>
          <ns1:off x="640080" y="2606040"/>
          <ns1:ext cx="10607040" cy="2450592"/>
        </ns0:xfrm>
        <ns1:graphic>
          <ns1:graphicData uri="http://schemas.openxmlformats.org/drawingml/2006/table">
            <ns1:tbl>
              <ns1:tblPr firstRow="1" bandRow="0"/>
              <ns1:tblGrid>
                <ns1:gridCol w="3337560"/>
                <ns1:gridCol w="1691640"/>
                <ns1:gridCol w="1965960"/>
                <ns1:gridCol w="1691640"/>
                <ns1:gridCol w="1920240"/>
              </ns1:tblGrid>
              <ns1:tr h="612648">
                <ns1:tc>
                  <ns1:txBody>
                    <ns1:bodyPr/>
                    <ns1:lstStyle/>
                    <ns1:p>
                      <ns1:r>
                        <ns1:rPr lang="vi-VN" sz="1800" b="1">
                          <ns1:solidFill>
                            <ns1:srgbClr val="FFFFFF"/>
                          </ns1:solidFill>
                          <ns1:latin typeface="Arial"/>
                        </ns1:rPr>
                        <ns1:t>Mô hình</ns1:t>
                      </ns1:r>
                    </ns1:p>
                  </ns1:txBody>
                  <ns1:tcPr marL="118872" marR="73152" marT="109728" marB="73152" anchor="ctr">
                    <ns1:solidFill>
                      <ns1:srgbClr val="14293D"/>
                    </ns1:solidFill>
                  </ns1:tcPr>
                </ns1:tc>
                <ns1:tc>
                  <ns1:txBody>
                    <ns1:bodyPr/>
                    <ns1:lstStyle/>
                    <ns1:p>
                      <ns1:r>
                        <ns1:rPr lang="vi-VN" sz="1800" b="1">
                          <ns1:solidFill>
                            <ns1:srgbClr val="FFFFFF"/>
                          </ns1:solidFill>
                          <ns1:latin typeface="Arial"/>
                        </ns1:rPr>
                        <ns1:t>mAP50</ns1:t>
                      </ns1:r>
                    </ns1:p>
                  </ns1:txBody>
                  <ns1:tcPr marL="118872" marR="73152" marT="109728" marB="73152" anchor="ctr">
                    <ns1:solidFill>
                      <ns1:srgbClr val="14293D"/>
                    </ns1:solidFill>
                  </ns1:tcPr>
                </ns1:tc>
                <ns1:tc>
                  <ns1:txBody>
                    <ns1:bodyPr/>
                    <ns1:lstStyle/>
                    <ns1:p>
                      <ns1:r>
                        <ns1:rPr lang="vi-VN" sz="1800" b="1">
                          <ns1:solidFill>
                            <ns1:srgbClr val="FFFFFF"/>
                          </ns1:solidFill>
                          <ns1:latin typeface="Arial"/>
                        </ns1:rPr>
                        <ns1:t>mAP50–95</ns1:t>
                      </ns1:r>
                    </ns1:p>
                  </ns1:txBody>
                  <ns1:tcPr marL="118872" marR="73152" marT="109728" marB="73152" anchor="ctr">
                    <ns1:solidFill>
                      <ns1:srgbClr val="14293D"/>
                    </ns1:solidFill>
                  </ns1:tcPr>
                </ns1:tc>
                <ns1:tc>
                  <ns1:txBody>
                    <ns1:bodyPr/>
                    <ns1:lstStyle/>
                    <ns1:p>
                      <ns1:r>
                        <ns1:rPr lang="vi-VN" sz="1800" b="1">
                          <ns1:solidFill>
                            <ns1:srgbClr val="FFFFFF"/>
                          </ns1:solidFill>
                          <ns1:latin typeface="Arial"/>
                        </ns1:rPr>
                        <ns1:t>F1</ns1:t>
                      </ns1:r>
                    </ns1:p>
                  </ns1:txBody>
                  <ns1:tcPr marL="118872" marR="73152" marT="109728" marB="73152" anchor="ctr">
                    <ns1:solidFill>
                      <ns1:srgbClr val="14293D"/>
                    </ns1:solidFill>
                  </ns1:tcPr>
                </ns1:tc>
                <ns1:tc>
                  <ns1:txBody>
                    <ns1:bodyPr/>
                    <ns1:lstStyle/>
                    <ns1:p>
                      <ns1:r>
                        <ns1:rPr lang="vi-VN" sz="1800" b="1">
                          <ns1:solidFill>
                            <ns1:srgbClr val="FFFFFF"/>
                          </ns1:solidFill>
                          <ns1:latin typeface="Arial"/>
                        </ns1:rPr>
                        <ns1:t>FPS</ns1:t>
                      </ns1:r>
                    </ns1:p>
                  </ns1:txBody>
                  <ns1:tcPr marL="118872" marR="73152" marT="109728" marB="73152" anchor="ctr">
                    <ns1:solidFill>
                      <ns1:srgbClr val="14293D"/>
                    </ns1:solidFill>
                  </ns1:tcPr>
                </ns1:tc>
              </ns1:tr>
              <ns1:tr h="612648">
                <ns1:tc>
                  <ns1:txBody>
                    <ns1:bodyPr/>
                    <ns1:lstStyle/>
                    <ns1:p>
                      <ns1:r>
                        <ns1:rPr lang="vi-VN" sz="1800" b="0">
                          <ns1:solidFill>
                            <ns1:srgbClr val="14293D"/>
                          </ns1:solidFill>
                          <ns1:latin typeface="Arial"/>
                        </ns1:rPr>
                        <ns1:t>SSD300-VGG16</ns1:t>
                      </ns1:r>
                    </ns1:p>
                  </ns1:txBody>
                  <ns1:tcPr marL="118872" marR="73152" marT="109728" marB="73152" anchor="ctr">
                    <ns1:solidFill>
                      <ns1:srgbClr val="F0F5F6"/>
                    </ns1:solidFill>
                  </ns1:tcPr>
                </ns1:tc>
                <ns1:tc>
                  <ns1:txBody>
                    <ns1:bodyPr/>
                    <ns1:lstStyle/>
                    <ns1:p>
                      <ns1:r>
                        <ns1:rPr lang="vi-VN" sz="1800" b="0">
                          <ns1:solidFill>
                            <ns1:srgbClr val="14293D"/>
                          </ns1:solidFill>
                          <ns1:latin typeface="Arial"/>
                        </ns1:rPr>
                        <ns1:t>0,433</ns1:t>
                      </ns1:r>
                    </ns1:p>
                  </ns1:txBody>
                  <ns1:tcPr marL="118872" marR="73152" marT="109728" marB="73152" anchor="ctr">
                    <ns1:solidFill>
                      <ns1:srgbClr val="F0F5F6"/>
                    </ns1:solidFill>
                  </ns1:tcPr>
                </ns1:tc>
                <ns1:tc>
                  <ns1:txBody>
                    <ns1:bodyPr/>
                    <ns1:lstStyle/>
                    <ns1:p>
                      <ns1:r>
                        <ns1:rPr lang="vi-VN" sz="1800" b="0">
                          <ns1:solidFill>
                            <ns1:srgbClr val="14293D"/>
                          </ns1:solidFill>
                          <ns1:latin typeface="Arial"/>
                        </ns1:rPr>
                        <ns1:t>0,257</ns1:t>
                      </ns1:r>
                    </ns1:p>
                  </ns1:txBody>
                  <ns1:tcPr marL="118872" marR="73152" marT="109728" marB="73152" anchor="ctr">
                    <ns1:solidFill>
                      <ns1:srgbClr val="F0F5F6"/>
                    </ns1:solidFill>
                  </ns1:tcPr>
                </ns1:tc>
                <ns1:tc>
                  <ns1:txBody>
                    <ns1:bodyPr/>
                    <ns1:lstStyle/>
                    <ns1:p>
                      <ns1:r>
                        <ns1:rPr lang="vi-VN" sz="1800" b="0">
                          <ns1:solidFill>
                            <ns1:srgbClr val="14293D"/>
                          </ns1:solidFill>
                          <ns1:latin typeface="Arial"/>
                        </ns1:rPr>
                        <ns1:t>0,445</ns1:t>
                      </ns1:r>
                    </ns1:p>
                  </ns1:txBody>
                  <ns1:tcPr marL="118872" marR="73152" marT="109728" marB="73152" anchor="ctr">
                    <ns1:solidFill>
                      <ns1:srgbClr val="F0F5F6"/>
                    </ns1:solidFill>
                  </ns1:tcPr>
                </ns1:tc>
                <ns1:tc>
                  <ns1:txBody>
                    <ns1:bodyPr/>
                    <ns1:lstStyle/>
                    <ns1:p>
                      <ns1:r>
                        <ns1:rPr lang="vi-VN" sz="1800" b="0">
                          <ns1:solidFill>
                            <ns1:srgbClr val="14293D"/>
                          </ns1:solidFill>
                          <ns1:latin typeface="Arial"/>
                        </ns1:rPr>
                        <ns1:t>166,8</ns1:t>
                      </ns1:r>
                    </ns1:p>
                  </ns1:txBody>
                  <ns1:tcPr marL="118872" marR="73152" marT="109728" marB="73152" anchor="ctr">
                    <ns1:solidFill>
                      <ns1:srgbClr val="F0F5F6"/>
                    </ns1:solidFill>
                  </ns1:tcPr>
                </ns1:tc>
              </ns1:tr>
              <ns1:tr h="612648">
                <ns1:tc>
                  <ns1:txBody>
                    <ns1:bodyPr/>
                    <ns1:lstStyle/>
                    <ns1:p>
                      <ns1:r>
                        <ns1:rPr lang="vi-VN" sz="1800" b="0">
                          <ns1:solidFill>
                            <ns1:srgbClr val="14293D"/>
                          </ns1:solidFill>
                          <ns1:latin typeface="Arial"/>
                        </ns1:rPr>
                        <ns1:t>YOLOv8s</ns1:t>
                      </ns1:r>
                    </ns1:p>
                  </ns1:txBody>
                  <ns1:tcPr marL="118872" marR="73152" marT="109728" marB="73152" anchor="ctr">
                    <ns1:solidFill>
                      <ns1:srgbClr val="FFFFFF"/>
                    </ns1:solidFill>
                  </ns1:tcPr>
                </ns1:tc>
                <ns1:tc>
                  <ns1:txBody>
                    <ns1:bodyPr/>
                    <ns1:lstStyle/>
                    <ns1:p>
                      <ns1:r>
                        <ns1:rPr lang="vi-VN" sz="1800" b="0">
                          <ns1:solidFill>
                            <ns1:srgbClr val="14293D"/>
                          </ns1:solidFill>
                          <ns1:latin typeface="Arial"/>
                        </ns1:rPr>
                        <ns1:t>0,519</ns1:t>
                      </ns1:r>
                    </ns1:p>
                  </ns1:txBody>
                  <ns1:tcPr marL="118872" marR="73152" marT="109728" marB="73152" anchor="ctr">
                    <ns1:solidFill>
                      <ns1:srgbClr val="FFFFFF"/>
                    </ns1:solidFill>
                  </ns1:tcPr>
                </ns1:tc>
                <ns1:tc>
                  <ns1:txBody>
                    <ns1:bodyPr/>
                    <ns1:lstStyle/>
                    <ns1:p>
                      <ns1:r>
                        <ns1:rPr lang="vi-VN" sz="1800" b="0">
                          <ns1:solidFill>
                            <ns1:srgbClr val="14293D"/>
                          </ns1:solidFill>
                          <ns1:latin typeface="Arial"/>
                        </ns1:rPr>
                        <ns1:t>0,318</ns1:t>
                      </ns1:r>
                    </ns1:p>
                  </ns1:txBody>
                  <ns1:tcPr marL="118872" marR="73152" marT="109728" marB="73152" anchor="ctr">
                    <ns1:solidFill>
                      <ns1:srgbClr val="FFFFFF"/>
                    </ns1:solidFill>
                  </ns1:tcPr>
                </ns1:tc>
                <ns1:tc>
                  <ns1:txBody>
                    <ns1:bodyPr/>
                    <ns1:lstStyle/>
                    <ns1:p>
                      <ns1:r>
                        <ns1:rPr lang="vi-VN" sz="1800" b="0">
                          <ns1:solidFill>
                            <ns1:srgbClr val="14293D"/>
                          </ns1:solidFill>
                          <ns1:latin typeface="Arial"/>
                        </ns1:rPr>
                        <ns1:t>0,529</ns1:t>
                      </ns1:r>
                    </ns1:p>
                  </ns1:txBody>
                  <ns1:tcPr marL="118872" marR="73152" marT="109728" marB="73152" anchor="ctr">
                    <ns1:solidFill>
                      <ns1:srgbClr val="FFFFFF"/>
                    </ns1:solidFill>
                  </ns1:tcPr>
                </ns1:tc>
                <ns1:tc>
                  <ns1:txBody>
                    <ns1:bodyPr/>
                    <ns1:lstStyle/>
                    <ns1:p>
                      <ns1:r>
                        <ns1:rPr lang="vi-VN" sz="1800" b="0">
                          <ns1:solidFill>
                            <ns1:srgbClr val="14293D"/>
                          </ns1:solidFill>
                          <ns1:latin typeface="Arial"/>
                        </ns1:rPr>
                        <ns1:t>119,9</ns1:t>
                      </ns1:r>
                    </ns1:p>
                  </ns1:txBody>
                  <ns1:tcPr marL="118872" marR="73152" marT="109728" marB="73152" anchor="ctr">
                    <ns1:solidFill>
                      <ns1:srgbClr val="FFFFFF"/>
                    </ns1:solidFill>
                  </ns1:tcPr>
                </ns1:tc>
              </ns1:tr>
              <ns1:tr h="612648">
                <ns1:tc>
                  <ns1:txBody>
                    <ns1:bodyPr/>
                    <ns1:lstStyle/>
                    <ns1:p>
                      <ns1:r>
                        <ns1:rPr lang="vi-VN" sz="1800" b="0">
                          <ns1:solidFill>
                            <ns1:srgbClr val="14293D"/>
                          </ns1:solidFill>
                          <ns1:latin typeface="Arial"/>
                        </ns1:rPr>
                        <ns1:t>YOLO11x</ns1:t>
                      </ns1:r>
                    </ns1:p>
                  </ns1:txBody>
                  <ns1:tcPr marL="118872" marR="73152" marT="109728" marB="73152" anchor="ctr">
                    <ns1:solidFill>
                      <ns1:srgbClr val="F0F5F6"/>
                    </ns1:solidFill>
                  </ns1:tcPr>
                </ns1:tc>
                <ns1:tc>
                  <ns1:txBody>
                    <ns1:bodyPr/>
                    <ns1:lstStyle/>
                    <ns1:p>
                      <ns1:r>
                        <ns1:rPr lang="vi-VN" sz="1800" b="0">
                          <ns1:solidFill>
                            <ns1:srgbClr val="14293D"/>
                          </ns1:solidFill>
                          <ns1:latin typeface="Arial"/>
                        </ns1:rPr>
                        <ns1:t>0,513</ns1:t>
                      </ns1:r>
                    </ns1:p>
                  </ns1:txBody>
                  <ns1:tcPr marL="118872" marR="73152" marT="109728" marB="73152" anchor="ctr">
                    <ns1:solidFill>
                      <ns1:srgbClr val="F0F5F6"/>
                    </ns1:solidFill>
                  </ns1:tcPr>
                </ns1:tc>
                <ns1:tc>
                  <ns1:txBody>
                    <ns1:bodyPr/>
                    <ns1:lstStyle/>
                    <ns1:p>
                      <ns1:r>
                        <ns1:rPr lang="vi-VN" sz="1800" b="0">
                          <ns1:solidFill>
                            <ns1:srgbClr val="14293D"/>
                          </ns1:solidFill>
                          <ns1:latin typeface="Arial"/>
                        </ns1:rPr>
                        <ns1:t>0,309</ns1:t>
                      </ns1:r>
                    </ns1:p>
                  </ns1:txBody>
                  <ns1:tcPr marL="118872" marR="73152" marT="109728" marB="73152" anchor="ctr">
                    <ns1:solidFill>
                      <ns1:srgbClr val="F0F5F6"/>
                    </ns1:solidFill>
                  </ns1:tcPr>
                </ns1:tc>
                <ns1:tc>
                  <ns1:txBody>
                    <ns1:bodyPr/>
                    <ns1:lstStyle/>
                    <ns1:p>
                      <ns1:r>
                        <ns1:rPr lang="vi-VN" sz="1800" b="0">
                          <ns1:solidFill>
                            <ns1:srgbClr val="14293D"/>
                          </ns1:solidFill>
                          <ns1:latin typeface="Arial"/>
                        </ns1:rPr>
                        <ns1:t>0,514</ns1:t>
                      </ns1:r>
                    </ns1:p>
                  </ns1:txBody>
                  <ns1:tcPr marL="118872" marR="73152" marT="109728" marB="73152" anchor="ctr">
                    <ns1:solidFill>
                      <ns1:srgbClr val="F0F5F6"/>
                    </ns1:solidFill>
                  </ns1:tcPr>
                </ns1:tc>
                <ns1:tc>
                  <ns1:txBody>
                    <ns1:bodyPr/>
                    <ns1:lstStyle/>
                    <ns1:p>
                      <ns1:r>
                        <ns1:rPr lang="vi-VN" sz="1800" b="0">
                          <ns1:solidFill>
                            <ns1:srgbClr val="14293D"/>
                          </ns1:solidFill>
                          <ns1:latin typeface="Arial"/>
                        </ns1:rPr>
                        <ns1:t>65,2</ns1:t>
                      </ns1:r>
                    </ns1:p>
                  </ns1:txBody>
                  <ns1:tcPr marL="118872" marR="73152" marT="109728" marB="73152" anchor="ctr">
                    <ns1:solidFill>
                      <ns1:srgbClr val="F0F5F6"/>
                    </ns1:solidFill>
                  </ns1:tcPr>
                </ns1:tc>
              </ns1:tr>
            </ns1:tbl>
          </ns1:graphicData>
        </ns1:graphic>
      </ns0:graphicFrame>
      <ns0:sp>
        <ns0:nvSpPr>
          <ns0:cNvPr id="6" name="Text 6"/>
          <ns0:cNvSpPr txBox="1"/>
          <ns0:nvPr/>
        </ns0:nvSpPr>
        <ns0:spPr>
          <ns1:xfrm>
            <ns1:off x="640080" y="5349240"/>
            <ns1:ext cx="10972800" cy="548640"/>
          </ns1:xfrm>
          <ns1:prstGeom prst="rect">
            <ns1:avLst/>
          </ns1:prstGeom>
          <ns1:noFill/>
          <ns1:ln>
            <ns1:noFill/>
          </ns1:ln>
        </ns0:spPr>
        <ns0:txBody>
          <ns1:bodyPr wrap="square" lIns="0" rIns="0" tIns="0" bIns="0" anchor="t"/>
          <ns1:lstStyle/>
          <ns1:p>
            <ns1:pPr>
              <ns1:spcAft>
                <ns1:spcPts val="700"/>
              </ns1:spcAft>
            </ns1:pPr>
            <ns1:r>
              <ns1:rPr lang="vi-VN" sz="2500" b="1">
                <ns1:solidFill>
                  <ns1:srgbClr val="127A83"/>
                </ns1:solidFill>
                <ns1:latin typeface="Arial"/>
                <ns1:ea typeface="Arial"/>
                <ns1:cs typeface="Arial"/>
              </ns1:rPr>
              <ns1:t>YOLOv8s đạt mAP cao nhất. SSD đạt FPS cao nhất.</ns1:t>
            </ns1:r>
          </ns1:p>
        </ns0:txBody>
      </ns0:sp>
      <ns0:sp>
        <ns0:nvSpPr>
          <ns0:cNvPr id="7" name="Text 7"/>
          <ns0:cNvSpPr txBox="1"/>
          <ns0:nvPr/>
        </ns0:nvSpPr>
        <ns0:spPr>
          <ns1:xfrm>
            <ns1:off x="640080" y="5989320"/>
            <ns1:ext cx="10972800" cy="320040"/>
          </ns1:xfrm>
          <ns1:prstGeom prst="rect">
            <ns1:avLst/>
          </ns1:prstGeom>
          <ns1:noFill/>
          <ns1:ln>
            <ns1:noFill/>
          </ns1:ln>
        </ns0:spPr>
        <ns0:txBody>
          <ns1:bodyPr wrap="square" lIns="0" rIns="0" tIns="0" bIns="0" anchor="t"/>
          <ns1:lstStyle/>
          <ns1:p>
            <ns1:pPr>
              <ns1:spcAft>
                <ns1:spcPts val="700"/>
              </ns1:spcAft>
            </ns1:pPr>
            <ns1:r>
              <ns1:rPr lang="vi-VN" sz="1700" b="0">
                <ns1:solidFill>
                  <ns1:srgbClr val="526373"/>
                </ns1:solidFill>
                <ns1:latin typeface="Arial"/>
                <ns1:ea typeface="Arial"/>
                <ns1:cs typeface="Arial"/>
              </ns1:rPr>
              <ns1:t>Kết quả detector đã fine tune trên COCO subset. FPS đo trên GPU H100.</ns1:t>
            </ns1:r>
          </ns1:p>
        </ns0:txBody>
      </ns0:sp>
    </ns0:spTree>
  </ns0:cSld>
  <ns0:clrMapOvr>
    <ns1:masterClrMapping/>
  </ns0:clrMapOvr>
</ns0:sld>
</file>

<file path=ppt/slides/slide6.xml><?xml version="1.0" encoding="utf-8"?>
<p:sld xmlns:a="http://schemas.openxmlformats.org/drawingml/2006/main"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94360" y="365760"/>
            <a:ext cx="10972800" cy="914400"/>
          </a:xfrm>
          <a:prstGeom prst="rect">
            <a:avLst/>
          </a:prstGeom>
          <a:noFill/>
          <a:ln>
            <a:noFill/>
          </a:ln>
        </p:spPr>
        <p:txBody>
          <a:bodyPr wrap="square" lIns="0" rIns="0" tIns="0" bIns="0" anchor="t"/>
          <a:lstStyle/>
          <a:p>
            <a:pPr>
              <a:spcAft>
                <a:spcPts val="700"/>
              </a:spcAft>
            </a:pPr>
            <a:r>
              <a:rPr lang="vi-VN" sz="3400" b="1">
                <a:solidFill>
                  <a:srgbClr val="14293D"/>
                </a:solidFill>
                <a:latin typeface="Arial"/>
                <a:ea typeface="Arial"/>
                <a:cs typeface="Arial"/>
              </a:rPr>
              <a:t>mAP đánh giá chất lượng nhận diện</a:t>
            </a:r>
          </a:p>
        </p:txBody>
      </p:sp>
      <p:sp>
        <p:nvSpPr>
          <p:cNvPr id="3" name="Text 3"/>
          <p:cNvSpPr txBox="1"/>
          <p:nvPr/>
        </p:nvSpPr>
        <p:spPr>
          <a:xfrm>
            <a:off x="10789920" y="6446520"/>
            <a:ext cx="822960" cy="201168"/>
          </a:xfrm>
          <a:prstGeom prst="rect">
            <a:avLst/>
          </a:prstGeom>
          <a:noFill/>
          <a:ln>
            <a:noFill/>
          </a:ln>
        </p:spPr>
        <p:txBody>
          <a:bodyPr wrap="square" lIns="0" rIns="0" tIns="0" bIns="0" anchor="t"/>
          <a:lstStyle/>
          <a:p>
            <a:pPr>
              <a:spcAft>
                <a:spcPts val="700"/>
              </a:spcAft>
            </a:pPr>
            <a:r>
              <a:rPr lang="vi-VN" sz="1000" b="0">
                <a:solidFill>
                  <a:srgbClr val="526373"/>
                </a:solidFill>
                <a:latin typeface="Arial"/>
                <a:ea typeface="Arial"/>
                <a:cs typeface="Arial"/>
              </a:rPr>
              <a:t>06 / 10</a:t>
            </a:r>
          </a:p>
        </p:txBody>
      </p:sp>
      <p:sp>
        <p:nvSpPr>
          <p:cNvPr id="4" name="Text 4"/>
          <p:cNvSpPr txBox="1"/>
          <p:nvPr/>
        </p:nvSpPr>
        <p:spPr>
          <a:xfrm>
            <a:off x="640080" y="1371600"/>
            <a:ext cx="10972800" cy="640080"/>
          </a:xfrm>
          <a:prstGeom prst="rect">
            <a:avLst/>
          </a:prstGeom>
          <a:noFill/>
          <a:ln>
            <a:noFill/>
          </a:ln>
        </p:spPr>
        <p:txBody>
          <a:bodyPr wrap="square" lIns="0" rIns="0" tIns="0" bIns="0" anchor="t"/>
          <a:lstStyle/>
          <a:p>
            <a:pPr>
              <a:spcAft>
                <a:spcPts val="700"/>
              </a:spcAft>
            </a:pPr>
            <a:r>
              <a:rPr lang="vi-VN" sz="2800" b="1">
                <a:solidFill>
                  <a:srgbClr val="127A83"/>
                </a:solidFill>
                <a:latin typeface="Arial"/>
                <a:ea typeface="Arial"/>
                <a:cs typeface="Arial"/>
              </a:rPr>
              <a:t>mAP là trung bình AP của các lớp đối tượng</a:t>
            </a:r>
          </a:p>
        </p:txBody>
      </p:sp>
      <p:sp>
        <p:nvSpPr>
          <p:cNvPr id="5" name="Text 5"/>
          <p:cNvSpPr txBox="1"/>
          <p:nvPr/>
        </p:nvSpPr>
        <p:spPr>
          <a:xfrm>
            <a:off x="640080" y="2331720"/>
            <a:ext cx="2788920" cy="365760"/>
          </a:xfrm>
          <a:prstGeom prst="rect">
            <a:avLst/>
          </a:prstGeom>
          <a:noFill/>
          <a:ln>
            <a:noFill/>
          </a:ln>
        </p:spPr>
        <p:txBody>
          <a:bodyPr wrap="square" lIns="0" rIns="0" tIns="0" bIns="0" anchor="t"/>
          <a:lstStyle/>
          <a:p>
            <a:pPr>
              <a:spcAft>
                <a:spcPts val="700"/>
              </a:spcAft>
            </a:pPr>
            <a:r>
              <a:rPr lang="vi-VN" sz="2100" b="1">
                <a:solidFill>
                  <a:srgbClr val="127A83"/>
                </a:solidFill>
                <a:latin typeface="Arial"/>
                <a:ea typeface="Arial"/>
                <a:cs typeface="Arial"/>
              </a:rPr>
              <a:t>Precision</a:t>
            </a:r>
          </a:p>
        </p:txBody>
      </p:sp>
      <p:sp>
        <p:nvSpPr>
          <p:cNvPr id="6" name="Text 6"/>
          <p:cNvSpPr txBox="1"/>
          <p:nvPr/>
        </p:nvSpPr>
        <p:spPr>
          <a:xfrm>
            <a:off x="3566160" y="2331720"/>
            <a:ext cx="7909560" cy="749808"/>
          </a:xfrm>
          <a:prstGeom prst="rect">
            <a:avLst/>
          </a:prstGeom>
          <a:noFill/>
          <a:ln>
            <a:noFill/>
          </a:ln>
        </p:spPr>
        <p:txBody>
          <a:bodyPr wrap="square" lIns="0" rIns="0" tIns="0" bIns="0" anchor="t"/>
          <a:lstStyle/>
          <a:p>
            <a:pPr>
              <a:spcAft>
                <a:spcPts val="700"/>
              </a:spcAft>
            </a:pPr>
            <a:r>
              <a:rPr lang="vi-VN" sz="2100" b="0">
                <a:solidFill>
                  <a:srgbClr val="14293D"/>
                </a:solidFill>
                <a:latin typeface="Arial"/>
                <a:ea typeface="Arial"/>
                <a:cs typeface="Arial"/>
              </a:rPr>
              <a:t>Trong những xe báo ra, bao nhiêu là đúng.</a:t>
            </a:r>
          </a:p>
        </p:txBody>
      </p:sp>
      <p:sp>
        <p:nvSpPr>
          <p:cNvPr id="7" name="Text 7"/>
          <p:cNvSpPr txBox="1"/>
          <p:nvPr/>
        </p:nvSpPr>
        <p:spPr>
          <a:xfrm>
            <a:off x="640080" y="3099816"/>
            <a:ext cx="2788920" cy="365760"/>
          </a:xfrm>
          <a:prstGeom prst="rect">
            <a:avLst/>
          </a:prstGeom>
          <a:noFill/>
          <a:ln>
            <a:noFill/>
          </a:ln>
        </p:spPr>
        <p:txBody>
          <a:bodyPr wrap="square" lIns="0" rIns="0" tIns="0" bIns="0" anchor="t"/>
          <a:lstStyle/>
          <a:p>
            <a:pPr>
              <a:spcAft>
                <a:spcPts val="700"/>
              </a:spcAft>
            </a:pPr>
            <a:r>
              <a:rPr lang="vi-VN" sz="2100" b="1">
                <a:solidFill>
                  <a:srgbClr val="127A83"/>
                </a:solidFill>
                <a:latin typeface="Arial"/>
                <a:ea typeface="Arial"/>
                <a:cs typeface="Arial"/>
              </a:rPr>
              <a:t>Recall</a:t>
            </a:r>
          </a:p>
        </p:txBody>
      </p:sp>
      <p:sp>
        <p:nvSpPr>
          <p:cNvPr id="8" name="Text 8"/>
          <p:cNvSpPr txBox="1"/>
          <p:nvPr/>
        </p:nvSpPr>
        <p:spPr>
          <a:xfrm>
            <a:off x="3566160" y="3099816"/>
            <a:ext cx="7909560" cy="749808"/>
          </a:xfrm>
          <a:prstGeom prst="rect">
            <a:avLst/>
          </a:prstGeom>
          <a:noFill/>
          <a:ln>
            <a:noFill/>
          </a:ln>
        </p:spPr>
        <p:txBody>
          <a:bodyPr wrap="square" lIns="0" rIns="0" tIns="0" bIns="0" anchor="t"/>
          <a:lstStyle/>
          <a:p>
            <a:pPr>
              <a:spcAft>
                <a:spcPts val="700"/>
              </a:spcAft>
            </a:pPr>
            <a:r>
              <a:rPr lang="vi-VN" sz="2100" b="0">
                <a:solidFill>
                  <a:srgbClr val="14293D"/>
                </a:solidFill>
                <a:latin typeface="Arial"/>
                <a:ea typeface="Arial"/>
                <a:cs typeface="Arial"/>
              </a:rPr>
              <a:t>Trong những xe có thật, tìm được bao nhiêu.</a:t>
            </a:r>
          </a:p>
        </p:txBody>
      </p:sp>
      <p:sp>
        <p:nvSpPr>
          <p:cNvPr id="9" name="Text 9"/>
          <p:cNvSpPr txBox="1"/>
          <p:nvPr/>
        </p:nvSpPr>
        <p:spPr>
          <a:xfrm>
            <a:off x="640080" y="3867912"/>
            <a:ext cx="2788920" cy="365760"/>
          </a:xfrm>
          <a:prstGeom prst="rect">
            <a:avLst/>
          </a:prstGeom>
          <a:noFill/>
          <a:ln>
            <a:noFill/>
          </a:ln>
        </p:spPr>
        <p:txBody>
          <a:bodyPr wrap="square" lIns="0" rIns="0" tIns="0" bIns="0" anchor="t"/>
          <a:lstStyle/>
          <a:p>
            <a:pPr>
              <a:spcAft>
                <a:spcPts val="700"/>
              </a:spcAft>
            </a:pPr>
            <a:r>
              <a:rPr lang="vi-VN" sz="2100" b="1">
                <a:solidFill>
                  <a:srgbClr val="127A83"/>
                </a:solidFill>
                <a:latin typeface="Arial"/>
                <a:ea typeface="Arial"/>
                <a:cs typeface="Arial"/>
              </a:rPr>
              <a:t>IoU</a:t>
            </a:r>
          </a:p>
        </p:txBody>
      </p:sp>
      <p:sp>
        <p:nvSpPr>
          <p:cNvPr id="10" name="Text 10"/>
          <p:cNvSpPr txBox="1"/>
          <p:nvPr/>
        </p:nvSpPr>
        <p:spPr>
          <a:xfrm>
            <a:off x="3566160" y="3867912"/>
            <a:ext cx="7909560" cy="749808"/>
          </a:xfrm>
          <a:prstGeom prst="rect">
            <a:avLst/>
          </a:prstGeom>
          <a:noFill/>
          <a:ln>
            <a:noFill/>
          </a:ln>
        </p:spPr>
        <p:txBody>
          <a:bodyPr wrap="square" lIns="0" rIns="0" tIns="0" bIns="0" anchor="t"/>
          <a:lstStyle/>
          <a:p>
            <a:pPr>
              <a:spcAft>
                <a:spcPts val="700"/>
              </a:spcAft>
            </a:pPr>
            <a:r>
              <a:rPr lang="vi-VN" sz="2100" b="0">
                <a:solidFill>
                  <a:srgbClr val="14293D"/>
                </a:solidFill>
                <a:latin typeface="Arial"/>
                <a:ea typeface="Arial"/>
                <a:cs typeface="Arial"/>
              </a:rPr>
              <a:t>Diện tích giao / diện tích hợp của hai khung.</a:t>
            </a:r>
          </a:p>
        </p:txBody>
      </p:sp>
      <p:sp>
        <p:nvSpPr>
          <p:cNvPr id="11" name="Text 11"/>
          <p:cNvSpPr txBox="1"/>
          <p:nvPr/>
        </p:nvSpPr>
        <p:spPr>
          <a:xfrm>
            <a:off x="640080" y="4636008"/>
            <a:ext cx="2788920" cy="365760"/>
          </a:xfrm>
          <a:prstGeom prst="rect">
            <a:avLst/>
          </a:prstGeom>
          <a:noFill/>
          <a:ln>
            <a:noFill/>
          </a:ln>
        </p:spPr>
        <p:txBody>
          <a:bodyPr wrap="square" lIns="0" rIns="0" tIns="0" bIns="0" anchor="t"/>
          <a:lstStyle/>
          <a:p>
            <a:pPr>
              <a:spcAft>
                <a:spcPts val="700"/>
              </a:spcAft>
            </a:pPr>
            <a:r>
              <a:rPr lang="vi-VN" sz="2100" b="1">
                <a:solidFill>
                  <a:srgbClr val="127A83"/>
                </a:solidFill>
                <a:latin typeface="Arial"/>
                <a:ea typeface="Arial"/>
                <a:cs typeface="Arial"/>
              </a:rPr>
              <a:t>mAP50 và mAP50–95</a:t>
            </a:r>
          </a:p>
        </p:txBody>
      </p:sp>
      <p:sp>
        <p:nvSpPr>
          <p:cNvPr id="12" name="Text 12"/>
          <p:cNvSpPr txBox="1"/>
          <p:nvPr/>
        </p:nvSpPr>
        <p:spPr>
          <a:xfrm>
            <a:off x="3566160" y="4636008"/>
            <a:ext cx="7909560" cy="749808"/>
          </a:xfrm>
          <a:prstGeom prst="rect">
            <a:avLst/>
          </a:prstGeom>
          <a:noFill/>
          <a:ln>
            <a:noFill/>
          </a:ln>
        </p:spPr>
        <p:txBody>
          <a:bodyPr wrap="square" lIns="0" rIns="0" tIns="0" bIns="0" anchor="t"/>
          <a:lstStyle/>
          <a:p>
            <a:pPr>
              <a:spcAft>
                <a:spcPts val="700"/>
              </a:spcAft>
            </a:pPr>
            <a:r>
              <a:rPr lang="vi-VN" sz="2100" b="0">
                <a:solidFill>
                  <a:srgbClr val="14293D"/>
                </a:solidFill>
                <a:latin typeface="Arial"/>
                <a:ea typeface="Arial"/>
                <a:cs typeface="Arial"/>
              </a:rPr>
              <a:t>Ngưỡng IoU 0,50 hoặc trung bình từ 0,50 đến 0,95.</a:t>
            </a:r>
          </a:p>
        </p:txBody>
      </p:sp>
      <p:sp>
        <p:nvSpPr>
          <p:cNvPr id="13" name="Text 13"/>
          <p:cNvSpPr txBox="1"/>
          <p:nvPr/>
        </p:nvSpPr>
        <p:spPr>
          <a:xfrm>
            <a:off x="640080" y="5715000"/>
            <a:ext cx="10972800" cy="548640"/>
          </a:xfrm>
          <a:prstGeom prst="rect">
            <a:avLst/>
          </a:prstGeom>
          <a:noFill/>
          <a:ln>
            <a:noFill/>
          </a:ln>
        </p:spPr>
        <p:txBody>
          <a:bodyPr wrap="square" lIns="0" rIns="0" tIns="0" bIns="0" anchor="t"/>
          <a:lstStyle/>
          <a:p>
            <a:pPr>
              <a:spcAft>
                <a:spcPts val="700"/>
              </a:spcAft>
            </a:pPr>
            <a:r>
              <a:rPr lang="vi-VN" sz="2300" b="1">
                <a:solidFill>
                  <a:srgbClr val="14293D"/>
                </a:solidFill>
                <a:latin typeface="Arial"/>
                <a:ea typeface="Arial"/>
                <a:cs typeface="Arial"/>
              </a:rPr>
              <a:t>mAP 0,318 không có nghĩa chỉ nhận đúng 31,8% số xe.</a:t>
            </a:r>
          </a:p>
        </p:txBody>
      </p:sp>
    </p:spTree>
  </p:cSld>
  <p:clrMapOvr>
    <a:masterClrMapping/>
  </p:clrMapOvr>
</p:sld>
</file>

<file path=ppt/slides/slide7.xml><?xml version="1.0" encoding="utf-8"?>
<p:sld xmlns:a="http://schemas.openxmlformats.org/drawingml/2006/main" xmlns:c="http://schemas.openxmlformats.org/drawingml/2006/chart" xmlns:ns2="http://schemas.microsoft.com/office/drawing/2014/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94360" y="365760"/>
            <a:ext cx="10972800" cy="914400"/>
          </a:xfrm>
          <a:prstGeom prst="rect">
            <a:avLst/>
          </a:prstGeom>
          <a:noFill/>
          <a:ln>
            <a:noFill/>
          </a:ln>
        </p:spPr>
        <p:txBody>
          <a:bodyPr wrap="square" lIns="0" rIns="0" tIns="0" bIns="0" anchor="t"/>
          <a:lstStyle/>
          <a:p>
            <a:pPr>
              <a:spcAft>
                <a:spcPts val="700"/>
              </a:spcAft>
            </a:pPr>
            <a:r>
              <a:rPr lang="vi-VN" sz="3400" b="1">
                <a:solidFill>
                  <a:srgbClr val="14293D"/>
                </a:solidFill>
                <a:latin typeface="Arial"/>
                <a:ea typeface="Arial"/>
                <a:cs typeface="Arial"/>
              </a:rPr>
              <a:t>FPS đo tốc độ xử lý</a:t>
            </a:r>
          </a:p>
        </p:txBody>
      </p:sp>
      <p:sp>
        <p:nvSpPr>
          <p:cNvPr id="3" name="Text 3"/>
          <p:cNvSpPr txBox="1"/>
          <p:nvPr/>
        </p:nvSpPr>
        <p:spPr>
          <a:xfrm>
            <a:off x="10789920" y="6446520"/>
            <a:ext cx="822960" cy="201168"/>
          </a:xfrm>
          <a:prstGeom prst="rect">
            <a:avLst/>
          </a:prstGeom>
          <a:noFill/>
          <a:ln>
            <a:noFill/>
          </a:ln>
        </p:spPr>
        <p:txBody>
          <a:bodyPr wrap="square" lIns="0" rIns="0" tIns="0" bIns="0" anchor="t"/>
          <a:lstStyle/>
          <a:p>
            <a:pPr>
              <a:spcAft>
                <a:spcPts val="700"/>
              </a:spcAft>
            </a:pPr>
            <a:r>
              <a:rPr lang="vi-VN" sz="1000" b="0">
                <a:solidFill>
                  <a:srgbClr val="526373"/>
                </a:solidFill>
                <a:latin typeface="Arial"/>
                <a:ea typeface="Arial"/>
                <a:cs typeface="Arial"/>
              </a:rPr>
              <a:t>07 / 10</a:t>
            </a:r>
          </a:p>
        </p:txBody>
      </p:sp>
      <p:graphicFrame>
        <p:nvGraphicFramePr>
          <p:cNvPr id="4" name="Chart">
            <a:extLst>
              <a:ext uri="{FF2B5EF4-FFF2-40B4-BE49-F238E27FC236}">
                <ns2:creationId id="{72FC2965-1E16-4A4F-AAA3-2835F84A1C85}"/>
              </a:ext>
            </a:extLst>
          </p:cNvPr>
          <p:cNvGraphicFramePr/>
          <p:nvPr/>
        </p:nvGraphicFramePr>
        <p:xfrm>
          <a:off x="594360" y="1417320"/>
          <a:ext cx="6995160" cy="4389120"/>
        </p:xfrm>
        <a:graphic>
          <a:graphicData uri="http://schemas.openxmlformats.org/drawingml/2006/chart">
            <c:chart r:id="rIdSummaryChart"/>
          </a:graphicData>
        </a:graphic>
      </p:graphicFrame>
      <p:sp>
        <p:nvSpPr>
          <p:cNvPr id="5" name="Text 5"/>
          <p:cNvSpPr txBox="1"/>
          <p:nvPr/>
        </p:nvSpPr>
        <p:spPr>
          <a:xfrm>
            <a:off x="7909560" y="1645920"/>
            <a:ext cx="3657600" cy="822960"/>
          </a:xfrm>
          <a:prstGeom prst="rect">
            <a:avLst/>
          </a:prstGeom>
          <a:noFill/>
          <a:ln>
            <a:noFill/>
          </a:ln>
        </p:spPr>
        <p:txBody>
          <a:bodyPr wrap="square" lIns="0" rIns="0" tIns="0" bIns="0" anchor="t"/>
          <a:lstStyle/>
          <a:p>
            <a:pPr>
              <a:spcAft>
                <a:spcPts val="700"/>
              </a:spcAft>
            </a:pPr>
            <a:r>
              <a:rPr lang="vi-VN" sz="2600" b="1">
                <a:solidFill>
                  <a:srgbClr val="127A83"/>
                </a:solidFill>
                <a:latin typeface="Arial"/>
                <a:ea typeface="Arial"/>
                <a:cs typeface="Arial"/>
              </a:rPr>
              <a:t>FPS = số frame / giây</a:t>
            </a:r>
          </a:p>
        </p:txBody>
      </p:sp>
      <p:sp>
        <p:nvSpPr>
          <p:cNvPr id="6" name="Text 6"/>
          <p:cNvSpPr txBox="1"/>
          <p:nvPr/>
        </p:nvSpPr>
        <p:spPr>
          <a:xfrm>
            <a:off x="7909560" y="2788920"/>
            <a:ext cx="3657600" cy="1554480"/>
          </a:xfrm>
          <a:prstGeom prst="rect">
            <a:avLst/>
          </a:prstGeom>
          <a:noFill/>
          <a:ln>
            <a:noFill/>
          </a:ln>
        </p:spPr>
        <p:txBody>
          <a:bodyPr wrap="square" lIns="0" rIns="0" tIns="0" bIns="0" anchor="t"/>
          <a:lstStyle/>
          <a:p>
            <a:pPr>
              <a:spcAft>
                <a:spcPts val="700"/>
              </a:spcAft>
            </a:pPr>
            <a:r>
              <a:rPr lang="vi-VN" sz="2300" b="0">
                <a:solidFill>
                  <a:srgbClr val="14293D"/>
                </a:solidFill>
                <a:latin typeface="Arial"/>
                <a:ea typeface="Arial"/>
                <a:cs typeface="Arial"/>
              </a:rPr>
              <a:t>Video 30 FPS cần khoảng</a:t>
            </a:r>
          </a:p>
          <a:p>
            <a:pPr>
              <a:spcAft>
                <a:spcPts val="700"/>
              </a:spcAft>
            </a:pPr>
            <a:r>
              <a:rPr lang="vi-VN" sz="2300" b="0">
                <a:solidFill>
                  <a:srgbClr val="14293D"/>
                </a:solidFill>
                <a:latin typeface="Arial"/>
                <a:ea typeface="Arial"/>
                <a:cs typeface="Arial"/>
              </a:rPr>
              <a:t>30 FPS toàn pipeline</a:t>
            </a:r>
          </a:p>
          <a:p>
            <a:pPr>
              <a:spcAft>
                <a:spcPts val="700"/>
              </a:spcAft>
            </a:pPr>
            <a:r>
              <a:rPr lang="vi-VN" sz="2300" b="0">
                <a:solidFill>
                  <a:srgbClr val="14293D"/>
                </a:solidFill>
                <a:latin typeface="Arial"/>
                <a:ea typeface="Arial"/>
                <a:cs typeface="Arial"/>
              </a:rPr>
              <a:t>để xử lý theo kịp đầu vào.</a:t>
            </a:r>
          </a:p>
        </p:txBody>
      </p:sp>
      <p:sp>
        <p:nvSpPr>
          <p:cNvPr id="7" name="Text 7"/>
          <p:cNvSpPr txBox="1"/>
          <p:nvPr/>
        </p:nvSpPr>
        <p:spPr>
          <a:xfrm>
            <a:off x="7909560" y="4617720"/>
            <a:ext cx="3657600" cy="1051560"/>
          </a:xfrm>
          <a:prstGeom prst="rect">
            <a:avLst/>
          </a:prstGeom>
          <a:noFill/>
          <a:ln>
            <a:noFill/>
          </a:ln>
        </p:spPr>
        <p:txBody>
          <a:bodyPr wrap="square" lIns="0" rIns="0" tIns="0" bIns="0" anchor="t"/>
          <a:lstStyle/>
          <a:p>
            <a:pPr>
              <a:spcAft>
                <a:spcPts val="700"/>
              </a:spcAft>
            </a:pPr>
            <a:r>
              <a:rPr lang="vi-VN" sz="2100" b="0">
                <a:solidFill>
                  <a:srgbClr val="14293D"/>
                </a:solidFill>
                <a:latin typeface="Arial"/>
                <a:ea typeface="Arial"/>
                <a:cs typeface="Arial"/>
              </a:rPr>
              <a:t>FPS cao hơn nghĩa là nhanh hơn.</a:t>
            </a:r>
          </a:p>
          <a:p>
            <a:pPr>
              <a:spcAft>
                <a:spcPts val="700"/>
              </a:spcAft>
            </a:pPr>
            <a:r>
              <a:rPr lang="vi-VN" sz="2100" b="0">
                <a:solidFill>
                  <a:srgbClr val="14293D"/>
                </a:solidFill>
                <a:latin typeface="Arial"/>
                <a:ea typeface="Arial"/>
                <a:cs typeface="Arial"/>
              </a:rPr>
              <a:t>Chất lượng nhận diện đo riêng.</a:t>
            </a:r>
          </a:p>
        </p:txBody>
      </p:sp>
      <p:sp>
        <p:nvSpPr>
          <p:cNvPr id="8" name="Text 8"/>
          <p:cNvSpPr txBox="1"/>
          <p:nvPr/>
        </p:nvSpPr>
        <p:spPr>
          <a:xfrm>
            <a:off x="640080" y="5989320"/>
            <a:ext cx="10972800" cy="365760"/>
          </a:xfrm>
          <a:prstGeom prst="rect">
            <a:avLst/>
          </a:prstGeom>
          <a:noFill/>
          <a:ln>
            <a:noFill/>
          </a:ln>
        </p:spPr>
        <p:txBody>
          <a:bodyPr wrap="square" lIns="0" rIns="0" tIns="0" bIns="0" anchor="t"/>
          <a:lstStyle/>
          <a:p>
            <a:pPr>
              <a:spcAft>
                <a:spcPts val="700"/>
              </a:spcAft>
            </a:pPr>
            <a:r>
              <a:rPr lang="vi-VN" sz="1800" b="0">
                <a:solidFill>
                  <a:srgbClr val="526373"/>
                </a:solidFill>
                <a:latin typeface="Arial"/>
                <a:ea typeface="Arial"/>
                <a:cs typeface="Arial"/>
              </a:rPr>
              <a:t>Đo detector trên H100, batch 1, FP32. Chưa phải FPS toàn hệ thống.</a:t>
            </a:r>
          </a:p>
        </p:txBody>
      </p:sp>
    </p:spTree>
  </p:cSld>
  <p:clrMapOvr>
    <a:masterClrMapping/>
  </p:clrMapOvr>
</p:sld>
</file>

<file path=ppt/slides/slide8.xml><?xml version="1.0" encoding="utf-8"?>
<ns0:sld xmlns:ns0="http://schemas.openxmlformats.org/presentationml/2006/main" xmlns:ns1="http://schemas.openxmlformats.org/drawingml/2006/main">
  <ns0:cSld>
    <ns0:bg>
      <ns0:bgPr>
        <ns1:solidFill>
          <ns1:srgbClr val="FFFFFF"/>
        </ns1:solidFill>
        <ns1:effectLst/>
      </ns0:bgPr>
    </ns0:bg>
    <ns0:spTree>
      <ns0:nvGrpSpPr>
        <ns0:cNvPr id="1" name=""/>
        <ns0:cNvGrpSpPr/>
        <ns0:nvPr/>
      </ns0:nvGrpSpPr>
      <ns0:grpSpPr>
        <ns1:xfrm>
          <ns1:off x="0" y="0"/>
          <ns1:ext cx="0" cy="0"/>
          <ns1:chOff x="0" y="0"/>
          <ns1:chExt cx="0" cy="0"/>
        </ns1:xfrm>
      </ns0:grpSpPr>
      <ns0:sp>
        <ns0:nvSpPr>
          <ns0:cNvPr id="2" name="Text 2"/>
          <ns0:cNvSpPr txBox="1"/>
          <ns0:nvPr/>
        </ns0:nvSpPr>
        <ns0:spPr>
          <ns1:xfrm>
            <ns1:off x="594360" y="365760"/>
            <ns1:ext cx="10972800" cy="914400"/>
          </ns1:xfrm>
          <ns1:prstGeom prst="rect">
            <ns1:avLst/>
          </ns1:prstGeom>
          <ns1:noFill/>
          <ns1:ln>
            <ns1:noFill/>
          </ns1:ln>
        </ns0:spPr>
        <ns0:txBody>
          <ns1:bodyPr wrap="square" lIns="0" rIns="0" tIns="0" bIns="0" anchor="t"/>
          <ns1:lstStyle/>
          <ns1:p>
            <ns1:pPr>
              <ns1:spcAft>
                <ns1:spcPts val="700"/>
              </ns1:spcAft>
            </ns1:pPr>
            <ns1:r>
              <ns1:rPr lang="vi-VN" sz="3400" b="1">
                <ns1:solidFill>
                  <ns1:srgbClr val="14293D"/>
                </ns1:solidFill>
                <ns1:latin typeface="Arial"/>
                <ns1:ea typeface="Arial"/>
                <ns1:cs typeface="Arial"/>
              </ns1:rPr>
              <ns1:t>Vì sao YOLO11x có FPS thấp nhất</ns1:t>
            </ns1:r>
          </ns1:p>
        </ns0:txBody>
      </ns0:sp>
      <ns0:sp>
        <ns0:nvSpPr>
          <ns0:cNvPr id="3" name="Text 3"/>
          <ns0:cNvSpPr txBox="1"/>
          <ns0:nvPr/>
        </ns0:nvSpPr>
        <ns0:spPr>
          <ns1:xfrm>
            <ns1:off x="10789920" y="6446520"/>
            <ns1:ext cx="822960" cy="201168"/>
          </ns1:xfrm>
          <ns1:prstGeom prst="rect">
            <ns1:avLst/>
          </ns1:prstGeom>
          <ns1:noFill/>
          <ns1:ln>
            <ns1:noFill/>
          </ns1:ln>
        </ns0:spPr>
        <ns0:txBody>
          <ns1:bodyPr wrap="square" lIns="0" rIns="0" tIns="0" bIns="0" anchor="t"/>
          <ns1:lstStyle/>
          <ns1:p>
            <ns1:pPr>
              <ns1:spcAft>
                <ns1:spcPts val="700"/>
              </ns1:spcAft>
            </ns1:pPr>
            <ns1:r>
              <ns1:rPr lang="vi-VN" sz="1000" b="0">
                <ns1:solidFill>
                  <ns1:srgbClr val="526373"/>
                </ns1:solidFill>
                <ns1:latin typeface="Arial"/>
                <ns1:ea typeface="Arial"/>
                <ns1:cs typeface="Arial"/>
              </ns1:rPr>
              <ns1:t>08 / 10</ns1:t>
            </ns1:r>
          </ns1:p>
        </ns0:txBody>
      </ns0:sp>
      <ns0:graphicFrame>
        <ns0:nvGraphicFramePr>
          <ns0:cNvPr id="4" name="Bảng dữ liệu"/>
          <ns0:cNvGraphicFramePr/>
          <ns0:nvPr/>
        </ns0:nvGraphicFramePr>
        <ns0:xfrm>
          <ns1:off x="640080" y="1508760"/>
          <ns1:ext cx="10698480" cy="2633472"/>
        </ns0:xfrm>
        <ns1:graphic>
          <ns1:graphicData uri="http://schemas.openxmlformats.org/drawingml/2006/table">
            <ns1:tbl>
              <ns1:tblPr firstRow="1" bandRow="0"/>
              <ns1:tblGrid>
                <ns1:gridCol w="3657600"/>
                <ns1:gridCol w="3657600"/>
                <ns1:gridCol w="3383280"/>
              </ns1:tblGrid>
              <ns1:tr h="658368">
                <ns1:tc>
                  <ns1:txBody>
                    <ns1:bodyPr/>
                    <ns1:lstStyle/>
                    <ns1:p>
                      <ns1:r>
                        <ns1:rPr lang="vi-VN" sz="1800" b="1">
                          <ns1:solidFill>
                            <ns1:srgbClr val="FFFFFF"/>
                          </ns1:solidFill>
                          <ns1:latin typeface="Arial"/>
                        </ns1:rPr>
                        <ns1:t>Cấu hình</ns1:t>
                      </ns1:r>
                    </ns1:p>
                  </ns1:txBody>
                  <ns1:tcPr marL="118872" marR="73152" marT="109728" marB="73152" anchor="ctr">
                    <ns1:solidFill>
                      <ns1:srgbClr val="14293D"/>
                    </ns1:solidFill>
                  </ns1:tcPr>
                </ns1:tc>
                <ns1:tc>
                  <ns1:txBody>
                    <ns1:bodyPr/>
                    <ns1:lstStyle/>
                    <ns1:p>
                      <ns1:r>
                        <ns1:rPr lang="vi-VN" sz="1800" b="1">
                          <ns1:solidFill>
                            <ns1:srgbClr val="FFFFFF"/>
                          </ns1:solidFill>
                          <ns1:latin typeface="Arial"/>
                        </ns1:rPr>
                        <ns1:t>SSD300-VGG16</ns1:t>
                      </ns1:r>
                    </ns1:p>
                  </ns1:txBody>
                  <ns1:tcPr marL="118872" marR="73152" marT="109728" marB="73152" anchor="ctr">
                    <ns1:solidFill>
                      <ns1:srgbClr val="14293D"/>
                    </ns1:solidFill>
                  </ns1:tcPr>
                </ns1:tc>
                <ns1:tc>
                  <ns1:txBody>
                    <ns1:bodyPr/>
                    <ns1:lstStyle/>
                    <ns1:p>
                      <ns1:r>
                        <ns1:rPr lang="vi-VN" sz="1800" b="1">
                          <ns1:solidFill>
                            <ns1:srgbClr val="FFFFFF"/>
                          </ns1:solidFill>
                          <ns1:latin typeface="Arial"/>
                        </ns1:rPr>
                        <ns1:t>YOLO11x</ns1:t>
                      </ns1:r>
                    </ns1:p>
                  </ns1:txBody>
                  <ns1:tcPr marL="118872" marR="73152" marT="109728" marB="73152" anchor="ctr">
                    <ns1:solidFill>
                      <ns1:srgbClr val="14293D"/>
                    </ns1:solidFill>
                  </ns1:tcPr>
                </ns1:tc>
              </ns1:tr>
              <ns1:tr h="658368">
                <ns1:tc>
                  <ns1:txBody>
                    <ns1:bodyPr/>
                    <ns1:lstStyle/>
                    <ns1:p>
                      <ns1:r>
                        <ns1:rPr lang="vi-VN" sz="1800" b="0">
                          <ns1:solidFill>
                            <ns1:srgbClr val="14293D"/>
                          </ns1:solidFill>
                          <ns1:latin typeface="Arial"/>
                        </ns1:rPr>
                        <ns1:t>Tham số</ns1:t>
                      </ns1:r>
                    </ns1:p>
                  </ns1:txBody>
                  <ns1:tcPr marL="118872" marR="73152" marT="109728" marB="73152" anchor="ctr">
                    <ns1:solidFill>
                      <ns1:srgbClr val="F0F5F6"/>
                    </ns1:solidFill>
                  </ns1:tcPr>
                </ns1:tc>
                <ns1:tc>
                  <ns1:txBody>
                    <ns1:bodyPr/>
                    <ns1:lstStyle/>
                    <ns1:p>
                      <ns1:r>
                        <ns1:rPr lang="vi-VN" sz="1800" b="0">
                          <ns1:solidFill>
                            <ns1:srgbClr val="14293D"/>
                          </ns1:solidFill>
                          <ns1:latin typeface="Arial"/>
                        </ns1:rPr>
                        <ns1:t>24,3 triệu</ns1:t>
                      </ns1:r>
                    </ns1:p>
                  </ns1:txBody>
                  <ns1:tcPr marL="118872" marR="73152" marT="109728" marB="73152" anchor="ctr">
                    <ns1:solidFill>
                      <ns1:srgbClr val="F0F5F6"/>
                    </ns1:solidFill>
                  </ns1:tcPr>
                </ns1:tc>
                <ns1:tc>
                  <ns1:txBody>
                    <ns1:bodyPr/>
                    <ns1:lstStyle/>
                    <ns1:p>
                      <ns1:r>
                        <ns1:rPr lang="vi-VN" sz="1800" b="0">
                          <ns1:solidFill>
                            <ns1:srgbClr val="14293D"/>
                          </ns1:solidFill>
                          <ns1:latin typeface="Arial"/>
                        </ns1:rPr>
                        <ns1:t>56,9 triệu</ns1:t>
                      </ns1:r>
                    </ns1:p>
                  </ns1:txBody>
                  <ns1:tcPr marL="118872" marR="73152" marT="109728" marB="73152" anchor="ctr">
                    <ns1:solidFill>
                      <ns1:srgbClr val="F0F5F6"/>
                    </ns1:solidFill>
                  </ns1:tcPr>
                </ns1:tc>
              </ns1:tr>
              <ns1:tr h="658368">
                <ns1:tc>
                  <ns1:txBody>
                    <ns1:bodyPr/>
                    <ns1:lstStyle/>
                    <ns1:p>
                      <ns1:r>
                        <ns1:rPr lang="vi-VN" sz="1800" b="0">
                          <ns1:solidFill>
                            <ns1:srgbClr val="14293D"/>
                          </ns1:solidFill>
                          <ns1:latin typeface="Arial"/>
                        </ns1:rPr>
                        <ns1:t>Ảnh đầu vào</ns1:t>
                      </ns1:r>
                    </ns1:p>
                  </ns1:txBody>
                  <ns1:tcPr marL="118872" marR="73152" marT="109728" marB="73152" anchor="ctr">
                    <ns1:solidFill>
                      <ns1:srgbClr val="FFFFFF"/>
                    </ns1:solidFill>
                  </ns1:tcPr>
                </ns1:tc>
                <ns1:tc>
                  <ns1:txBody>
                    <ns1:bodyPr/>
                    <ns1:lstStyle/>
                    <ns1:p>
                      <ns1:r>
                        <ns1:rPr lang="vi-VN" sz="1800" b="0">
                          <ns1:solidFill>
                            <ns1:srgbClr val="14293D"/>
                          </ns1:solidFill>
                          <ns1:latin typeface="Arial"/>
                        </ns1:rPr>
                        <ns1:t>300 × 300</ns1:t>
                      </ns1:r>
                    </ns1:p>
                  </ns1:txBody>
                  <ns1:tcPr marL="118872" marR="73152" marT="109728" marB="73152" anchor="ctr">
                    <ns1:solidFill>
                      <ns1:srgbClr val="FFFFFF"/>
                    </ns1:solidFill>
                  </ns1:tcPr>
                </ns1:tc>
                <ns1:tc>
                  <ns1:txBody>
                    <ns1:bodyPr/>
                    <ns1:lstStyle/>
                    <ns1:p>
                      <ns1:r>
                        <ns1:rPr lang="vi-VN" sz="1800" b="0">
                          <ns1:solidFill>
                            <ns1:srgbClr val="14293D"/>
                          </ns1:solidFill>
                          <ns1:latin typeface="Arial"/>
                        </ns1:rPr>
                        <ns1:t>640 × 640</ns1:t>
                      </ns1:r>
                    </ns1:p>
                  </ns1:txBody>
                  <ns1:tcPr marL="118872" marR="73152" marT="109728" marB="73152" anchor="ctr">
                    <ns1:solidFill>
                      <ns1:srgbClr val="FFFFFF"/>
                    </ns1:solidFill>
                  </ns1:tcPr>
                </ns1:tc>
              </ns1:tr>
              <ns1:tr h="658368">
                <ns1:tc>
                  <ns1:txBody>
                    <ns1:bodyPr/>
                    <ns1:lstStyle/>
                    <ns1:p>
                      <ns1:r>
                        <ns1:rPr lang="vi-VN" sz="1800" b="0">
                          <ns1:solidFill>
                            <ns1:srgbClr val="14293D"/>
                          </ns1:solidFill>
                          <ns1:latin typeface="Arial"/>
                        </ns1:rPr>
                        <ns1:t>FPS trên H100</ns1:t>
                      </ns1:r>
                    </ns1:p>
                  </ns1:txBody>
                  <ns1:tcPr marL="118872" marR="73152" marT="109728" marB="73152" anchor="ctr">
                    <ns1:solidFill>
                      <ns1:srgbClr val="F0F5F6"/>
                    </ns1:solidFill>
                  </ns1:tcPr>
                </ns1:tc>
                <ns1:tc>
                  <ns1:txBody>
                    <ns1:bodyPr/>
                    <ns1:lstStyle/>
                    <ns1:p>
                      <ns1:r>
                        <ns1:rPr lang="vi-VN" sz="1800" b="0">
                          <ns1:solidFill>
                            <ns1:srgbClr val="14293D"/>
                          </ns1:solidFill>
                          <ns1:latin typeface="Arial"/>
                        </ns1:rPr>
                        <ns1:t>166,8</ns1:t>
                      </ns1:r>
                    </ns1:p>
                  </ns1:txBody>
                  <ns1:tcPr marL="118872" marR="73152" marT="109728" marB="73152" anchor="ctr">
                    <ns1:solidFill>
                      <ns1:srgbClr val="F0F5F6"/>
                    </ns1:solidFill>
                  </ns1:tcPr>
                </ns1:tc>
                <ns1:tc>
                  <ns1:txBody>
                    <ns1:bodyPr/>
                    <ns1:lstStyle/>
                    <ns1:p>
                      <ns1:r>
                        <ns1:rPr lang="vi-VN" sz="1800" b="0">
                          <ns1:solidFill>
                            <ns1:srgbClr val="14293D"/>
                          </ns1:solidFill>
                          <ns1:latin typeface="Arial"/>
                        </ns1:rPr>
                        <ns1:t>65,2</ns1:t>
                      </ns1:r>
                    </ns1:p>
                  </ns1:txBody>
                  <ns1:tcPr marL="118872" marR="73152" marT="109728" marB="73152" anchor="ctr">
                    <ns1:solidFill>
                      <ns1:srgbClr val="F0F5F6"/>
                    </ns1:solidFill>
                  </ns1:tcPr>
                </ns1:tc>
              </ns1:tr>
            </ns1:tbl>
          </ns1:graphicData>
        </ns1:graphic>
      </ns0:graphicFrame>
      <ns0:sp>
        <ns0:nvSpPr>
          <ns0:cNvPr id="5" name="Text 5"/>
          <ns0:cNvSpPr txBox="1"/>
          <ns0:nvPr/>
        </ns0:nvSpPr>
        <ns0:spPr>
          <ns1:xfrm>
            <ns1:off x="640080" y="4572000"/>
            <ns1:ext cx="10972800" cy="731520"/>
          </ns1:xfrm>
          <ns1:prstGeom prst="rect">
            <ns1:avLst/>
          </ns1:prstGeom>
          <ns1:noFill/>
          <ns1:ln>
            <ns1:noFill/>
          </ns1:ln>
        </ns0:spPr>
        <ns0:txBody>
          <ns1:bodyPr wrap="square" lIns="0" rIns="0" tIns="0" bIns="0" anchor="t"/>
          <ns1:lstStyle/>
          <ns1:p>
            <ns1:pPr>
              <ns1:spcAft>
                <ns1:spcPts val="700"/>
              </ns1:spcAft>
            </ns1:pPr>
            <ns1:r>
              <ns1:rPr lang="vi-VN" sz="2400" b="1">
                <ns1:solidFill>
                  <ns1:srgbClr val="127A83"/>
                </ns1:solidFill>
                <ns1:latin typeface="Arial"/>
                <ns1:ea typeface="Arial"/>
                <ns1:cs typeface="Arial"/>
              </ns1:rPr>
              <ns1:t>YOLO11x là bản lớn, xử lý ảnh có khoảng 4,55 lần số pixel.</ns1:t>
            </ns1:r>
          </ns1:p>
        </ns0:txBody>
      </ns0:sp>
      <ns0:sp>
        <ns0:nvSpPr>
          <ns0:cNvPr id="6" name="Text 6"/>
          <ns0:cNvSpPr txBox="1"/>
          <ns0:nvPr/>
        </ns0:nvSpPr>
        <ns0:spPr>
          <ns1:xfrm>
            <ns1:off x="640080" y="5486400"/>
            <ns1:ext cx="10972800" cy="822960"/>
          </ns1:xfrm>
          <ns1:prstGeom prst="rect">
            <ns1:avLst/>
          </ns1:prstGeom>
          <ns1:noFill/>
          <ns1:ln>
            <ns1:noFill/>
          </ns1:ln>
        </ns0:spPr>
        <ns0:txBody>
          <ns1:bodyPr wrap="square" lIns="0" rIns="0" tIns="0" bIns="0" anchor="t"/>
          <ns1:lstStyle/>
          <ns1:p>
            <ns1:pPr>
              <ns1:spcAft>
                <ns1:spcPts val="700"/>
              </ns1:spcAft>
            </ns1:pPr>
            <ns1:r>
              <ns1:rPr lang="vi-VN" sz="2100" b="0">
                <ns1:solidFill>
                  <ns1:srgbClr val="14293D"/>
                </ns1:solidFill>
                <ns1:latin typeface="Arial"/>
                <ns1:ea typeface="Arial"/>
                <ns1:cs typeface="Arial"/>
              </ns1:rPr>
              <ns1:t>SSD nhanh hơn nhưng mAP thấp hơn trong lần thử này.</ns1:t>
            </ns1:r>
          </ns1:p>
          <ns1:p>
            <ns1:pPr>
              <ns1:spcAft>
                <ns1:spcPts val="700"/>
              </ns1:spcAft>
            </ns1:pPr>
            <ns1:r>
              <ns1:rPr lang="vi-VN" sz="2100" b="0">
                <ns1:solidFill>
                  <ns1:srgbClr val="14293D"/>
                </ns1:solidFill>
                <ns1:latin typeface="Arial"/>
                <ns1:ea typeface="Arial"/>
                <ns1:cs typeface="Arial"/>
              </ns1:rPr>
              <ns1:t>Tốc độ còn phụ thuộc kiến trúc và cách thực thi trên phần cứng.</ns1:t>
            </ns1:r>
          </ns1:p>
        </ns0:txBody>
      </ns0:sp>
    </ns0:spTree>
  </ns0:cSld>
  <ns0:clrMapOvr>
    <ns1:masterClrMapping/>
  </ns0:clrMapOvr>
</ns0:sld>
</file>

<file path=ppt/slides/slide9.xml><?xml version="1.0" encoding="utf-8"?>
<p:sld xmlns:a="http://schemas.openxmlformats.org/drawingml/2006/main"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94360" y="365760"/>
            <a:ext cx="10972800" cy="914400"/>
          </a:xfrm>
          <a:prstGeom prst="rect">
            <a:avLst/>
          </a:prstGeom>
          <a:noFill/>
          <a:ln>
            <a:noFill/>
          </a:ln>
        </p:spPr>
        <p:txBody>
          <a:bodyPr wrap="square" lIns="0" rIns="0" tIns="0" bIns="0" anchor="t"/>
          <a:lstStyle/>
          <a:p>
            <a:pPr>
              <a:spcAft>
                <a:spcPts val="700"/>
              </a:spcAft>
            </a:pPr>
            <a:r>
              <a:rPr lang="vi-VN" sz="3400" b="1">
                <a:solidFill>
                  <a:srgbClr val="14293D"/>
                </a:solidFill>
                <a:latin typeface="Arial"/>
                <a:ea typeface="Arial"/>
                <a:cs typeface="Arial"/>
              </a:rPr>
              <a:t>Đánh giá sự kiện vượt đèn đỏ</a:t>
            </a:r>
          </a:p>
        </p:txBody>
      </p:sp>
      <p:sp>
        <p:nvSpPr>
          <p:cNvPr id="3" name="Text 3"/>
          <p:cNvSpPr txBox="1"/>
          <p:nvPr/>
        </p:nvSpPr>
        <p:spPr>
          <a:xfrm>
            <a:off x="10789920" y="6446520"/>
            <a:ext cx="822960" cy="201168"/>
          </a:xfrm>
          <a:prstGeom prst="rect">
            <a:avLst/>
          </a:prstGeom>
          <a:noFill/>
          <a:ln>
            <a:noFill/>
          </a:ln>
        </p:spPr>
        <p:txBody>
          <a:bodyPr wrap="square" lIns="0" rIns="0" tIns="0" bIns="0" anchor="t"/>
          <a:lstStyle/>
          <a:p>
            <a:pPr>
              <a:spcAft>
                <a:spcPts val="700"/>
              </a:spcAft>
            </a:pPr>
            <a:r>
              <a:rPr lang="vi-VN" sz="1000" b="0">
                <a:solidFill>
                  <a:srgbClr val="526373"/>
                </a:solidFill>
                <a:latin typeface="Arial"/>
                <a:ea typeface="Arial"/>
                <a:cs typeface="Arial"/>
              </a:rPr>
              <a:t>09 / 10</a:t>
            </a:r>
          </a:p>
        </p:txBody>
      </p:sp>
      <p:sp>
        <p:nvSpPr>
          <p:cNvPr id="4" name="Text 4"/>
          <p:cNvSpPr txBox="1"/>
          <p:nvPr/>
        </p:nvSpPr>
        <p:spPr>
          <a:xfrm>
            <a:off x="640080" y="1371600"/>
            <a:ext cx="10972800" cy="731520"/>
          </a:xfrm>
          <a:prstGeom prst="rect">
            <a:avLst/>
          </a:prstGeom>
          <a:noFill/>
          <a:ln>
            <a:noFill/>
          </a:ln>
        </p:spPr>
        <p:txBody>
          <a:bodyPr wrap="square" lIns="0" rIns="0" tIns="0" bIns="0" anchor="t"/>
          <a:lstStyle/>
          <a:p>
            <a:pPr>
              <a:spcAft>
                <a:spcPts val="700"/>
              </a:spcAft>
            </a:pPr>
            <a:r>
              <a:rPr lang="vi-VN" sz="2600" b="1">
                <a:solidFill>
                  <a:srgbClr val="127A83"/>
                </a:solidFill>
                <a:latin typeface="Arial"/>
                <a:ea typeface="Arial"/>
                <a:cs typeface="Arial"/>
              </a:rPr>
              <a:t>Gán nhãn đầy đủ trên video test rồi đối chiếu từng sự kiện</a:t>
            </a:r>
          </a:p>
        </p:txBody>
      </p:sp>
      <p:sp>
        <p:nvSpPr>
          <p:cNvPr id="5" name="Text 5"/>
          <p:cNvSpPr txBox="1"/>
          <p:nvPr/>
        </p:nvSpPr>
        <p:spPr>
          <a:xfrm>
            <a:off x="640080" y="2468880"/>
            <a:ext cx="2788920" cy="365760"/>
          </a:xfrm>
          <a:prstGeom prst="rect">
            <a:avLst/>
          </a:prstGeom>
          <a:noFill/>
          <a:ln>
            <a:noFill/>
          </a:ln>
        </p:spPr>
        <p:txBody>
          <a:bodyPr wrap="square" lIns="0" rIns="0" tIns="0" bIns="0" anchor="t"/>
          <a:lstStyle/>
          <a:p>
            <a:pPr>
              <a:spcAft>
                <a:spcPts val="700"/>
              </a:spcAft>
            </a:pPr>
            <a:r>
              <a:rPr lang="vi-VN" sz="2200" b="1">
                <a:solidFill>
                  <a:srgbClr val="127A83"/>
                </a:solidFill>
                <a:latin typeface="Arial"/>
                <a:ea typeface="Arial"/>
                <a:cs typeface="Arial"/>
              </a:rPr>
              <a:t>TP, FP, FN</a:t>
            </a:r>
          </a:p>
        </p:txBody>
      </p:sp>
      <p:sp>
        <p:nvSpPr>
          <p:cNvPr id="6" name="Text 6"/>
          <p:cNvSpPr txBox="1"/>
          <p:nvPr/>
        </p:nvSpPr>
        <p:spPr>
          <a:xfrm>
            <a:off x="3566160" y="2468880"/>
            <a:ext cx="7909560" cy="749808"/>
          </a:xfrm>
          <a:prstGeom prst="rect">
            <a:avLst/>
          </a:prstGeom>
          <a:noFill/>
          <a:ln>
            <a:noFill/>
          </a:ln>
        </p:spPr>
        <p:txBody>
          <a:bodyPr wrap="square" lIns="0" rIns="0" tIns="0" bIns="0" anchor="t"/>
          <a:lstStyle/>
          <a:p>
            <a:pPr>
              <a:spcAft>
                <a:spcPts val="700"/>
              </a:spcAft>
            </a:pPr>
            <a:r>
              <a:rPr lang="vi-VN" sz="2200" b="0">
                <a:solidFill>
                  <a:srgbClr val="14293D"/>
                </a:solidFill>
                <a:latin typeface="Arial"/>
                <a:ea typeface="Arial"/>
                <a:cs typeface="Arial"/>
              </a:rPr>
              <a:t>Báo đúng, báo nhầm hoặc trùng, và bỏ sót.</a:t>
            </a:r>
          </a:p>
        </p:txBody>
      </p:sp>
      <p:sp>
        <p:nvSpPr>
          <p:cNvPr id="7" name="Text 7"/>
          <p:cNvSpPr txBox="1"/>
          <p:nvPr/>
        </p:nvSpPr>
        <p:spPr>
          <a:xfrm>
            <a:off x="640080" y="3255264"/>
            <a:ext cx="2788920" cy="365760"/>
          </a:xfrm>
          <a:prstGeom prst="rect">
            <a:avLst/>
          </a:prstGeom>
          <a:noFill/>
          <a:ln>
            <a:noFill/>
          </a:ln>
        </p:spPr>
        <p:txBody>
          <a:bodyPr wrap="square" lIns="0" rIns="0" tIns="0" bIns="0" anchor="t"/>
          <a:lstStyle/>
          <a:p>
            <a:pPr>
              <a:spcAft>
                <a:spcPts val="700"/>
              </a:spcAft>
            </a:pPr>
            <a:r>
              <a:rPr lang="vi-VN" sz="2200" b="1">
                <a:solidFill>
                  <a:srgbClr val="127A83"/>
                </a:solidFill>
                <a:latin typeface="Arial"/>
                <a:ea typeface="Arial"/>
                <a:cs typeface="Arial"/>
              </a:rPr>
              <a:t>Precision và Recall</a:t>
            </a:r>
          </a:p>
        </p:txBody>
      </p:sp>
      <p:sp>
        <p:nvSpPr>
          <p:cNvPr id="8" name="Text 8"/>
          <p:cNvSpPr txBox="1"/>
          <p:nvPr/>
        </p:nvSpPr>
        <p:spPr>
          <a:xfrm>
            <a:off x="3566160" y="3255264"/>
            <a:ext cx="7909560" cy="749808"/>
          </a:xfrm>
          <a:prstGeom prst="rect">
            <a:avLst/>
          </a:prstGeom>
          <a:noFill/>
          <a:ln>
            <a:noFill/>
          </a:ln>
        </p:spPr>
        <p:txBody>
          <a:bodyPr wrap="square" lIns="0" rIns="0" tIns="0" bIns="0" anchor="t"/>
          <a:lstStyle/>
          <a:p>
            <a:pPr>
              <a:spcAft>
                <a:spcPts val="700"/>
              </a:spcAft>
            </a:pPr>
            <a:r>
              <a:rPr lang="vi-VN" sz="2200" b="0">
                <a:solidFill>
                  <a:srgbClr val="14293D"/>
                </a:solidFill>
                <a:latin typeface="Arial"/>
                <a:ea typeface="Arial"/>
                <a:cs typeface="Arial"/>
              </a:rPr>
              <a:t>P = TP / (TP + FP)      R = TP / (TP + FN)</a:t>
            </a:r>
          </a:p>
        </p:txBody>
      </p:sp>
      <p:sp>
        <p:nvSpPr>
          <p:cNvPr id="9" name="Text 9"/>
          <p:cNvSpPr txBox="1"/>
          <p:nvPr/>
        </p:nvSpPr>
        <p:spPr>
          <a:xfrm>
            <a:off x="640080" y="4041648"/>
            <a:ext cx="2788920" cy="365760"/>
          </a:xfrm>
          <a:prstGeom prst="rect">
            <a:avLst/>
          </a:prstGeom>
          <a:noFill/>
          <a:ln>
            <a:noFill/>
          </a:ln>
        </p:spPr>
        <p:txBody>
          <a:bodyPr wrap="square" lIns="0" rIns="0" tIns="0" bIns="0" anchor="t"/>
          <a:lstStyle/>
          <a:p>
            <a:pPr>
              <a:spcAft>
                <a:spcPts val="700"/>
              </a:spcAft>
            </a:pPr>
            <a:r>
              <a:rPr lang="vi-VN" sz="2200" b="1">
                <a:solidFill>
                  <a:srgbClr val="127A83"/>
                </a:solidFill>
                <a:latin typeface="Arial"/>
                <a:ea typeface="Arial"/>
                <a:cs typeface="Arial"/>
              </a:rPr>
              <a:t>F1</a:t>
            </a:r>
          </a:p>
        </p:txBody>
      </p:sp>
      <p:sp>
        <p:nvSpPr>
          <p:cNvPr id="10" name="Text 10"/>
          <p:cNvSpPr txBox="1"/>
          <p:nvPr/>
        </p:nvSpPr>
        <p:spPr>
          <a:xfrm>
            <a:off x="3566160" y="4041648"/>
            <a:ext cx="7909560" cy="749808"/>
          </a:xfrm>
          <a:prstGeom prst="rect">
            <a:avLst/>
          </a:prstGeom>
          <a:noFill/>
          <a:ln>
            <a:noFill/>
          </a:ln>
        </p:spPr>
        <p:txBody>
          <a:bodyPr wrap="square" lIns="0" rIns="0" tIns="0" bIns="0" anchor="t"/>
          <a:lstStyle/>
          <a:p>
            <a:pPr>
              <a:spcAft>
                <a:spcPts val="700"/>
              </a:spcAft>
            </a:pPr>
            <a:r>
              <a:rPr lang="vi-VN" sz="2200" b="0">
                <a:solidFill>
                  <a:srgbClr val="14293D"/>
                </a:solidFill>
                <a:latin typeface="Arial"/>
                <a:ea typeface="Arial"/>
                <a:cs typeface="Arial"/>
              </a:rPr>
              <a:t>F1 = 2 × P × R / (P + R)</a:t>
            </a:r>
          </a:p>
        </p:txBody>
      </p:sp>
      <p:sp>
        <p:nvSpPr>
          <p:cNvPr id="11" name="Text 11"/>
          <p:cNvSpPr txBox="1"/>
          <p:nvPr/>
        </p:nvSpPr>
        <p:spPr>
          <a:xfrm>
            <a:off x="640080" y="4828032"/>
            <a:ext cx="2788920" cy="365760"/>
          </a:xfrm>
          <a:prstGeom prst="rect">
            <a:avLst/>
          </a:prstGeom>
          <a:noFill/>
          <a:ln>
            <a:noFill/>
          </a:ln>
        </p:spPr>
        <p:txBody>
          <a:bodyPr wrap="square" lIns="0" rIns="0" tIns="0" bIns="0" anchor="t"/>
          <a:lstStyle/>
          <a:p>
            <a:pPr>
              <a:spcAft>
                <a:spcPts val="700"/>
              </a:spcAft>
            </a:pPr>
            <a:r>
              <a:rPr lang="vi-VN" sz="2200" b="1">
                <a:solidFill>
                  <a:srgbClr val="127A83"/>
                </a:solidFill>
                <a:latin typeface="Arial"/>
                <a:ea typeface="Arial"/>
                <a:cs typeface="Arial"/>
              </a:rPr>
              <a:t>Cách ghép sự kiện</a:t>
            </a:r>
          </a:p>
        </p:txBody>
      </p:sp>
      <p:sp>
        <p:nvSpPr>
          <p:cNvPr id="12" name="Text 12"/>
          <p:cNvSpPr txBox="1"/>
          <p:nvPr/>
        </p:nvSpPr>
        <p:spPr>
          <a:xfrm>
            <a:off x="3566160" y="4828032"/>
            <a:ext cx="7909560" cy="749808"/>
          </a:xfrm>
          <a:prstGeom prst="rect">
            <a:avLst/>
          </a:prstGeom>
          <a:noFill/>
          <a:ln>
            <a:noFill/>
          </a:ln>
        </p:spPr>
        <p:txBody>
          <a:bodyPr wrap="square" lIns="0" rIns="0" tIns="0" bIns="0" anchor="t"/>
          <a:lstStyle/>
          <a:p>
            <a:pPr>
              <a:spcAft>
                <a:spcPts val="700"/>
              </a:spcAft>
            </a:pPr>
            <a:r>
              <a:rPr lang="vi-VN" sz="2200" b="0">
                <a:solidFill>
                  <a:srgbClr val="14293D"/>
                </a:solidFill>
                <a:latin typeface="Arial"/>
                <a:ea typeface="Arial"/>
                <a:cs typeface="Arial"/>
              </a:rPr>
              <a:t>Cùng vạch, cùng video, lệch thời gian tối đa 0,5 giây.</a:t>
            </a:r>
          </a:p>
        </p:txBody>
      </p:sp>
      <p:sp>
        <p:nvSpPr>
          <p:cNvPr id="13" name="Text 13"/>
          <p:cNvSpPr txBox="1"/>
          <p:nvPr/>
        </p:nvSpPr>
        <p:spPr>
          <a:xfrm>
            <a:off x="640080" y="5760720"/>
            <a:ext cx="10972800" cy="594360"/>
          </a:xfrm>
          <a:prstGeom prst="rect">
            <a:avLst/>
          </a:prstGeom>
          <a:noFill/>
          <a:ln>
            <a:noFill/>
          </a:ln>
        </p:spPr>
        <p:txBody>
          <a:bodyPr wrap="square" lIns="0" rIns="0" tIns="0" bIns="0" anchor="t"/>
          <a:lstStyle/>
          <a:p>
            <a:pPr>
              <a:spcAft>
                <a:spcPts val="700"/>
              </a:spcAft>
            </a:pPr>
            <a:r>
              <a:rPr lang="vi-VN" sz="2100" b="1">
                <a:solidFill>
                  <a:srgbClr val="14293D"/>
                </a:solidFill>
                <a:latin typeface="Arial"/>
                <a:ea typeface="Arial"/>
                <a:cs typeface="Arial"/>
              </a:rPr>
              <a:t>Hiện chưa có số đo sự kiện được kiểm chứng để kết luận độ chính xác toàn hệ thống.</a:t>
            </a:r>
          </a:p>
        </p:txBody>
      </p:sp>
    </p:spTree>
  </p:cSld>
  <p:clrMapOvr>
    <a:masterClrMapping/>
  </p:clrMapOvr>
</p:sld>
</file>

<file path=ppt/slides/slide10.xml><?xml version="1.0" encoding="utf-8"?>
<p:sld xmlns:a="http://schemas.openxmlformats.org/drawingml/2006/main"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94360" y="365760"/>
            <a:ext cx="10972800" cy="914400"/>
          </a:xfrm>
          <a:prstGeom prst="rect">
            <a:avLst/>
          </a:prstGeom>
          <a:noFill/>
          <a:ln>
            <a:noFill/>
          </a:ln>
        </p:spPr>
        <p:txBody>
          <a:bodyPr wrap="square" lIns="0" rIns="0" tIns="0" bIns="0" anchor="t"/>
          <a:lstStyle/>
          <a:p>
            <a:pPr>
              <a:spcAft>
                <a:spcPts val="700"/>
              </a:spcAft>
            </a:pPr>
            <a:r>
              <a:rPr lang="vi-VN" sz="3400" b="1">
                <a:solidFill>
                  <a:srgbClr val="14293D"/>
                </a:solidFill>
                <a:latin typeface="Arial"/>
                <a:ea typeface="Arial"/>
                <a:cs typeface="Arial"/>
              </a:rPr>
              <a:t>Kết luận và câu hỏi khi bảo vệ</a:t>
            </a:r>
          </a:p>
        </p:txBody>
      </p:sp>
      <p:sp>
        <p:nvSpPr>
          <p:cNvPr id="3" name="Text 3"/>
          <p:cNvSpPr txBox="1"/>
          <p:nvPr/>
        </p:nvSpPr>
        <p:spPr>
          <a:xfrm>
            <a:off x="10789920" y="6446520"/>
            <a:ext cx="822960" cy="201168"/>
          </a:xfrm>
          <a:prstGeom prst="rect">
            <a:avLst/>
          </a:prstGeom>
          <a:noFill/>
          <a:ln>
            <a:noFill/>
          </a:ln>
        </p:spPr>
        <p:txBody>
          <a:bodyPr wrap="square" lIns="0" rIns="0" tIns="0" bIns="0" anchor="t"/>
          <a:lstStyle/>
          <a:p>
            <a:pPr>
              <a:spcAft>
                <a:spcPts val="700"/>
              </a:spcAft>
            </a:pPr>
            <a:r>
              <a:rPr lang="vi-VN" sz="1000" b="0">
                <a:solidFill>
                  <a:srgbClr val="526373"/>
                </a:solidFill>
                <a:latin typeface="Arial"/>
                <a:ea typeface="Arial"/>
                <a:cs typeface="Arial"/>
              </a:rPr>
              <a:t>10 / 10</a:t>
            </a:r>
          </a:p>
        </p:txBody>
      </p:sp>
      <p:sp>
        <p:nvSpPr>
          <p:cNvPr id="4" name="Text 4"/>
          <p:cNvSpPr txBox="1"/>
          <p:nvPr/>
        </p:nvSpPr>
        <p:spPr>
          <a:xfrm>
            <a:off x="640080" y="1463040"/>
            <a:ext cx="2788920" cy="365760"/>
          </a:xfrm>
          <a:prstGeom prst="rect">
            <a:avLst/>
          </a:prstGeom>
          <a:noFill/>
          <a:ln>
            <a:noFill/>
          </a:ln>
        </p:spPr>
        <p:txBody>
          <a:bodyPr wrap="square" lIns="0" rIns="0" tIns="0" bIns="0" anchor="t"/>
          <a:lstStyle/>
          <a:p>
            <a:pPr>
              <a:spcAft>
                <a:spcPts val="700"/>
              </a:spcAft>
            </a:pPr>
            <a:r>
              <a:rPr lang="vi-VN" sz="2100" b="1">
                <a:solidFill>
                  <a:srgbClr val="127A83"/>
                </a:solidFill>
                <a:latin typeface="Arial"/>
                <a:ea typeface="Arial"/>
                <a:cs typeface="Arial"/>
              </a:rPr>
              <a:t>Đóng góp của project</a:t>
            </a:r>
          </a:p>
        </p:txBody>
      </p:sp>
      <p:sp>
        <p:nvSpPr>
          <p:cNvPr id="5" name="Text 5"/>
          <p:cNvSpPr txBox="1"/>
          <p:nvPr/>
        </p:nvSpPr>
        <p:spPr>
          <a:xfrm>
            <a:off x="3566160" y="1463040"/>
            <a:ext cx="7909560" cy="749808"/>
          </a:xfrm>
          <a:prstGeom prst="rect">
            <a:avLst/>
          </a:prstGeom>
          <a:noFill/>
          <a:ln>
            <a:noFill/>
          </a:ln>
        </p:spPr>
        <p:txBody>
          <a:bodyPr wrap="square" lIns="0" rIns="0" tIns="0" bIns="0" anchor="t"/>
          <a:lstStyle/>
          <a:p>
            <a:pPr>
              <a:spcAft>
                <a:spcPts val="700"/>
              </a:spcAft>
            </a:pPr>
            <a:r>
              <a:rPr lang="vi-VN" sz="2100" b="0">
                <a:solidFill>
                  <a:srgbClr val="14293D"/>
                </a:solidFill>
                <a:latin typeface="Arial"/>
                <a:ea typeface="Arial"/>
                <a:cs typeface="Arial"/>
              </a:rPr>
              <a:t>Kết hợp nhận diện, theo dõi và luật cắt vạch có hướng.</a:t>
            </a:r>
          </a:p>
          <a:p>
            <a:pPr>
              <a:spcAft>
                <a:spcPts val="700"/>
              </a:spcAft>
            </a:pPr>
            <a:r>
              <a:rPr lang="vi-VN" sz="2100" b="0">
                <a:solidFill>
                  <a:srgbClr val="14293D"/>
                </a:solidFill>
                <a:latin typeface="Arial"/>
                <a:ea typeface="Arial"/>
                <a:cs typeface="Arial"/>
              </a:rPr>
              <a:t>Lưu thời điểm và ảnh để kiểm tra lại.</a:t>
            </a:r>
          </a:p>
        </p:txBody>
      </p:sp>
      <p:sp>
        <p:nvSpPr>
          <p:cNvPr id="6" name="Text 6"/>
          <p:cNvSpPr txBox="1"/>
          <p:nvPr/>
        </p:nvSpPr>
        <p:spPr>
          <a:xfrm>
            <a:off x="640080" y="2578608"/>
            <a:ext cx="2788920" cy="365760"/>
          </a:xfrm>
          <a:prstGeom prst="rect">
            <a:avLst/>
          </a:prstGeom>
          <a:noFill/>
          <a:ln>
            <a:noFill/>
          </a:ln>
        </p:spPr>
        <p:txBody>
          <a:bodyPr wrap="square" lIns="0" rIns="0" tIns="0" bIns="0" anchor="t"/>
          <a:lstStyle/>
          <a:p>
            <a:pPr>
              <a:spcAft>
                <a:spcPts val="700"/>
              </a:spcAft>
            </a:pPr>
            <a:r>
              <a:rPr lang="vi-VN" sz="2100" b="1">
                <a:solidFill>
                  <a:srgbClr val="127A83"/>
                </a:solidFill>
                <a:latin typeface="Arial"/>
                <a:ea typeface="Arial"/>
                <a:cs typeface="Arial"/>
              </a:rPr>
              <a:t>Có train mô hình không</a:t>
            </a:r>
          </a:p>
        </p:txBody>
      </p:sp>
      <p:sp>
        <p:nvSpPr>
          <p:cNvPr id="7" name="Text 7"/>
          <p:cNvSpPr txBox="1"/>
          <p:nvPr/>
        </p:nvSpPr>
        <p:spPr>
          <a:xfrm>
            <a:off x="3566160" y="2578608"/>
            <a:ext cx="7909560" cy="749808"/>
          </a:xfrm>
          <a:prstGeom prst="rect">
            <a:avLst/>
          </a:prstGeom>
          <a:noFill/>
          <a:ln>
            <a:noFill/>
          </a:ln>
        </p:spPr>
        <p:txBody>
          <a:bodyPr wrap="square" lIns="0" rIns="0" tIns="0" bIns="0" anchor="t"/>
          <a:lstStyle/>
          <a:p>
            <a:pPr>
              <a:spcAft>
                <a:spcPts val="700"/>
              </a:spcAft>
            </a:pPr>
            <a:r>
              <a:rPr lang="vi-VN" sz="2100" b="0">
                <a:solidFill>
                  <a:srgbClr val="14293D"/>
                </a:solidFill>
                <a:latin typeface="Arial"/>
                <a:ea typeface="Arial"/>
                <a:cs typeface="Arial"/>
              </a:rPr>
              <a:t>Có fine tune 3 detector. Pipeline video hiện dùng pretrained.</a:t>
            </a:r>
          </a:p>
        </p:txBody>
      </p:sp>
      <p:sp>
        <p:nvSpPr>
          <p:cNvPr id="8" name="Text 8"/>
          <p:cNvSpPr txBox="1"/>
          <p:nvPr/>
        </p:nvSpPr>
        <p:spPr>
          <a:xfrm>
            <a:off x="640080" y="3694176"/>
            <a:ext cx="2788920" cy="365760"/>
          </a:xfrm>
          <a:prstGeom prst="rect">
            <a:avLst/>
          </a:prstGeom>
          <a:noFill/>
          <a:ln>
            <a:noFill/>
          </a:ln>
        </p:spPr>
        <p:txBody>
          <a:bodyPr wrap="square" lIns="0" rIns="0" tIns="0" bIns="0" anchor="t"/>
          <a:lstStyle/>
          <a:p>
            <a:pPr>
              <a:spcAft>
                <a:spcPts val="700"/>
              </a:spcAft>
            </a:pPr>
            <a:r>
              <a:rPr lang="vi-VN" sz="2100" b="1">
                <a:solidFill>
                  <a:srgbClr val="127A83"/>
                </a:solidFill>
                <a:latin typeface="Arial"/>
                <a:ea typeface="Arial"/>
                <a:cs typeface="Arial"/>
              </a:rPr>
              <a:t>Vì sao dùng YOLO11x</a:t>
            </a:r>
          </a:p>
        </p:txBody>
      </p:sp>
      <p:sp>
        <p:nvSpPr>
          <p:cNvPr id="9" name="Text 9"/>
          <p:cNvSpPr txBox="1"/>
          <p:nvPr/>
        </p:nvSpPr>
        <p:spPr>
          <a:xfrm>
            <a:off x="3566160" y="3694176"/>
            <a:ext cx="7909560" cy="749808"/>
          </a:xfrm>
          <a:prstGeom prst="rect">
            <a:avLst/>
          </a:prstGeom>
          <a:noFill/>
          <a:ln>
            <a:noFill/>
          </a:ln>
        </p:spPr>
        <p:txBody>
          <a:bodyPr wrap="square" lIns="0" rIns="0" tIns="0" bIns="0" anchor="t"/>
          <a:lstStyle/>
          <a:p>
            <a:pPr>
              <a:spcAft>
                <a:spcPts val="700"/>
              </a:spcAft>
            </a:pPr>
            <a:r>
              <a:rPr lang="vi-VN" sz="2100" b="0">
                <a:solidFill>
                  <a:srgbClr val="14293D"/>
                </a:solidFill>
                <a:latin typeface="Arial"/>
                <a:ea typeface="Arial"/>
                <a:cs typeface="Arial"/>
              </a:rPr>
              <a:t>Bảng đo checkpoint fine tune trên COCO subset.</a:t>
            </a:r>
          </a:p>
          <a:p>
            <a:pPr>
              <a:spcAft>
                <a:spcPts val="700"/>
              </a:spcAft>
            </a:pPr>
            <a:r>
              <a:rPr lang="vi-VN" sz="2100" b="0">
                <a:solidFill>
                  <a:srgbClr val="14293D"/>
                </a:solidFill>
                <a:latin typeface="Arial"/>
                <a:ea typeface="Arial"/>
                <a:cs typeface="Arial"/>
              </a:rPr>
              <a:t>Lựa chọn pipeline cần đánh giá thêm trên camera thực.</a:t>
            </a:r>
          </a:p>
        </p:txBody>
      </p:sp>
      <p:sp>
        <p:nvSpPr>
          <p:cNvPr id="10" name="Text 10"/>
          <p:cNvSpPr txBox="1"/>
          <p:nvPr/>
        </p:nvSpPr>
        <p:spPr>
          <a:xfrm>
            <a:off x="640080" y="4809744"/>
            <a:ext cx="2788920" cy="365760"/>
          </a:xfrm>
          <a:prstGeom prst="rect">
            <a:avLst/>
          </a:prstGeom>
          <a:noFill/>
          <a:ln>
            <a:noFill/>
          </a:ln>
        </p:spPr>
        <p:txBody>
          <a:bodyPr wrap="square" lIns="0" rIns="0" tIns="0" bIns="0" anchor="t"/>
          <a:lstStyle/>
          <a:p>
            <a:pPr>
              <a:spcAft>
                <a:spcPts val="700"/>
              </a:spcAft>
            </a:pPr>
            <a:r>
              <a:rPr lang="vi-VN" sz="2100" b="1">
                <a:solidFill>
                  <a:srgbClr val="127A83"/>
                </a:solidFill>
                <a:latin typeface="Arial"/>
                <a:ea typeface="Arial"/>
                <a:cs typeface="Arial"/>
              </a:rPr>
              <a:t>Giới hạn và bước tiếp</a:t>
            </a:r>
          </a:p>
        </p:txBody>
      </p:sp>
      <p:sp>
        <p:nvSpPr>
          <p:cNvPr id="11" name="Text 11"/>
          <p:cNvSpPr txBox="1"/>
          <p:nvPr/>
        </p:nvSpPr>
        <p:spPr>
          <a:xfrm>
            <a:off x="3566160" y="4809744"/>
            <a:ext cx="7909560" cy="749808"/>
          </a:xfrm>
          <a:prstGeom prst="rect">
            <a:avLst/>
          </a:prstGeom>
          <a:noFill/>
          <a:ln>
            <a:noFill/>
          </a:ln>
        </p:spPr>
        <p:txBody>
          <a:bodyPr wrap="square" lIns="0" rIns="0" tIns="0" bIns="0" anchor="t"/>
          <a:lstStyle/>
          <a:p>
            <a:pPr>
              <a:spcAft>
                <a:spcPts val="700"/>
              </a:spcAft>
            </a:pPr>
            <a:r>
              <a:rPr lang="vi-VN" sz="2100" b="0">
                <a:solidFill>
                  <a:srgbClr val="14293D"/>
                </a:solidFill>
                <a:latin typeface="Arial"/>
                <a:ea typeface="Arial"/>
                <a:cs typeface="Arial"/>
              </a:rPr>
              <a:t>Cần hiệu chỉnh từng camera và gán nhãn video test.</a:t>
            </a:r>
          </a:p>
          <a:p>
            <a:pPr>
              <a:spcAft>
                <a:spcPts val="700"/>
              </a:spcAft>
            </a:pPr>
            <a:r>
              <a:rPr lang="vi-VN" sz="2100" b="0">
                <a:solidFill>
                  <a:srgbClr val="14293D"/>
                </a:solidFill>
                <a:latin typeface="Arial"/>
                <a:ea typeface="Arial"/>
                <a:cs typeface="Arial"/>
              </a:rPr>
              <a:t>Bổ sung cảnh đêm, che khuất và đo F1 sự kiện.</a:t>
            </a:r>
          </a:p>
        </p:txBody>
      </p:sp>
    </p:spTree>
  </p:cSld>
  <p:clrMapOvr>
    <a:masterClrMapping/>
  </p:clrMapOvr>
</p:sld>
</file>

<file path=ppt/theme/theme1.xml><?xml version="1.0" encoding="utf-8"?>
<a:theme xmlns:a="http://schemas.openxmlformats.org/drawingml/2006/main" name="ChatGPT">
  <a:themeElements>
    <a:clrScheme name="Minimal Traffic">
      <a:dk1>
        <a:srgbClr val="000000"/>
      </a:dk1>
      <a:lt1>
        <a:srgbClr val="FFFFFF"/>
      </a:lt1>
      <a:dk2>
        <a:srgbClr val="172A3A"/>
      </a:dk2>
      <a:lt2>
        <a:srgbClr val="EEF2F4"/>
      </a:lt2>
      <a:accent1>
        <a:srgbClr val="236B8E"/>
      </a:accent1>
      <a:accent2>
        <a:srgbClr val="5E9DBA"/>
      </a:accent2>
      <a:accent3>
        <a:srgbClr val="3B7D61"/>
      </a:accent3>
      <a:accent4>
        <a:srgbClr val="B67A22"/>
      </a:accent4>
      <a:accent5>
        <a:srgbClr val="B23A35"/>
      </a:accent5>
      <a:accent6>
        <a:srgbClr val="5F6B76"/>
      </a:accent6>
      <a:hlink>
        <a:srgbClr val="236B8E"/>
      </a:hlink>
      <a:folHlink>
        <a:srgbClr val="172A3A"/>
      </a:folHlink>
    </a:clrScheme>
    <a:fontScheme name="">
      <a:majorFont>
        <a:latin typeface="Aptos"/>
        <a:ea typeface=""/>
        <a:cs typeface=""/>
      </a:majorFont>
      <a:minorFont>
        <a:latin typeface="Aptos"/>
        <a:ea typeface=""/>
        <a:cs typeface=""/>
      </a:minorFont>
    </a:fontScheme>
    <a:fmtScheme name="Minimal Traffic">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2026-10-16T02:11:14.4150000Z</dcterms:created>
  <dcterms:modified xsi:type="dcterms:W3CDTF">2026-10-16T02:11:14.4150000Z</dcterms:modified>
</coreProperties>
</file>