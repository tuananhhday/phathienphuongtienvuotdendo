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a8e007f0f54166" /><Relationship Type="http://schemas.openxmlformats.org/officeDocument/2006/relationships/extended-properties" Target="/docProps/app.xml" Id="Ra8de1da588d247c5" /><Relationship Type="http://schemas.openxmlformats.org/officeDocument/2006/relationships/officeDocument" Target="/ppt/presentation.xml" Id="R6a48474e965343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32846559fa4f8b"/>
  </p:sldMasterIdLst>
  <p:notesMasterIdLst>
    <p:notesMasterId xmlns:r="http://schemas.openxmlformats.org/officeDocument/2006/relationships" r:id="R426ef24df5b84c45"/>
  </p:notesMasterIdLst>
  <p:sldIdLst>
    <p:sldId xmlns:r="http://schemas.openxmlformats.org/officeDocument/2006/relationships" id="256" r:id="Ref5bc6cdb6824735"/>
    <p:sldId xmlns:r="http://schemas.openxmlformats.org/officeDocument/2006/relationships" id="257" r:id="Rb4be6f8295654845"/>
    <p:sldId xmlns:r="http://schemas.openxmlformats.org/officeDocument/2006/relationships" id="258" r:id="Rcaa5a002882f4793"/>
    <p:sldId xmlns:r="http://schemas.openxmlformats.org/officeDocument/2006/relationships" id="259" r:id="R39f06cd436f54bcf"/>
    <p:sldId xmlns:r="http://schemas.openxmlformats.org/officeDocument/2006/relationships" id="260" r:id="Rbb292efddc7c499d"/>
    <p:sldId xmlns:r="http://schemas.openxmlformats.org/officeDocument/2006/relationships" id="261" r:id="Rcbe492425a0a43bb"/>
    <p:sldId xmlns:r="http://schemas.openxmlformats.org/officeDocument/2006/relationships" id="262" r:id="Rc75efe5734304c2c"/>
    <p:sldId xmlns:r="http://schemas.openxmlformats.org/officeDocument/2006/relationships" id="263" r:id="R5c8ff12f00644d44"/>
    <p:sldId xmlns:r="http://schemas.openxmlformats.org/officeDocument/2006/relationships" id="264" r:id="R84d2f917f2c04cbd"/>
    <p:sldId xmlns:r="http://schemas.openxmlformats.org/officeDocument/2006/relationships" id="265" r:id="R5c716e7cdd7c4c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ec9e68f5934083" /><Relationship Type="http://schemas.openxmlformats.org/officeDocument/2006/relationships/slideMaster" Target="/ppt/slideMasters/slideMaster1.xml" Id="R1932846559fa4f8b" /><Relationship Type="http://schemas.openxmlformats.org/officeDocument/2006/relationships/notesMaster" Target="/ppt/notesMasters/notesMaster1.xml" Id="R426ef24df5b84c45" /><Relationship Type="http://schemas.openxmlformats.org/officeDocument/2006/relationships/presProps" Target="/ppt/presProps.xml" Id="Rafaea4fc308c4d4d" /><Relationship Type="http://schemas.openxmlformats.org/officeDocument/2006/relationships/tableStyles" Target="/ppt/tableStyles.xml" Id="R4abeadca91924976" /><Relationship Type="http://schemas.openxmlformats.org/officeDocument/2006/relationships/slide" Target="/ppt/slides/slide1.xml" Id="Ref5bc6cdb6824735" /><Relationship Type="http://schemas.openxmlformats.org/officeDocument/2006/relationships/slide" Target="/ppt/slides/slide2.xml" Id="Rb4be6f8295654845" /><Relationship Type="http://schemas.openxmlformats.org/officeDocument/2006/relationships/slide" Target="/ppt/slides/slide3.xml" Id="Rcaa5a002882f4793" /><Relationship Type="http://schemas.openxmlformats.org/officeDocument/2006/relationships/slide" Target="/ppt/slides/slide4.xml" Id="R39f06cd436f54bcf" /><Relationship Type="http://schemas.openxmlformats.org/officeDocument/2006/relationships/slide" Target="/ppt/slides/slide5.xml" Id="Rbb292efddc7c499d" /><Relationship Type="http://schemas.openxmlformats.org/officeDocument/2006/relationships/slide" Target="/ppt/slides/slide6.xml" Id="Rcbe492425a0a43bb" /><Relationship Type="http://schemas.openxmlformats.org/officeDocument/2006/relationships/slide" Target="/ppt/slides/slide7.xml" Id="Rc75efe5734304c2c" /><Relationship Type="http://schemas.openxmlformats.org/officeDocument/2006/relationships/slide" Target="/ppt/slides/slide8.xml" Id="R5c8ff12f00644d44" /><Relationship Type="http://schemas.openxmlformats.org/officeDocument/2006/relationships/slide" Target="/ppt/slides/slide9.xml" Id="R84d2f917f2c04cbd" /><Relationship Type="http://schemas.openxmlformats.org/officeDocument/2006/relationships/slide" Target="/ppt/slides/slide10.xml" Id="R5c716e7cdd7c4c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8ca90ffb624d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Minimal Traffic">
      <a:dk1>
        <a:srgbClr val="000000"/>
      </a:dk1>
      <a:lt1>
        <a:srgbClr val="FFFFFF"/>
      </a:lt1>
      <a:dk2>
        <a:srgbClr val="172A3A"/>
      </a:dk2>
      <a:lt2>
        <a:srgbClr val="EEF2F4"/>
      </a:lt2>
      <a:accent1>
        <a:srgbClr val="236B8E"/>
      </a:accent1>
      <a:accent2>
        <a:srgbClr val="5E9DBA"/>
      </a:accent2>
      <a:accent3>
        <a:srgbClr val="3B7D61"/>
      </a:accent3>
      <a:accent4>
        <a:srgbClr val="B67A22"/>
      </a:accent4>
      <a:accent5>
        <a:srgbClr val="B23A35"/>
      </a:accent5>
      <a:accent6>
        <a:srgbClr val="5F6B76"/>
      </a:accent6>
      <a:hlink>
        <a:srgbClr val="236B8E"/>
      </a:hlink>
      <a:folHlink>
        <a:srgbClr val="172A3A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Minimal Traffic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f7192488484c66" /><Relationship Type="http://schemas.openxmlformats.org/officeDocument/2006/relationships/notesMaster" Target="/ppt/notesMasters/notesMaster1.xml" Id="Rd714a38815b846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ae63162f954f65" /><Relationship Type="http://schemas.openxmlformats.org/officeDocument/2006/relationships/notesMaster" Target="/ppt/notesMasters/notesMaster1.xml" Id="R1e378f29e03e41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1c8fc7cd8147b2" /><Relationship Type="http://schemas.openxmlformats.org/officeDocument/2006/relationships/notesMaster" Target="/ppt/notesMasters/notesMaster1.xml" Id="Rb94b6a11d9a24a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dcf374879348c1" /><Relationship Type="http://schemas.openxmlformats.org/officeDocument/2006/relationships/notesMaster" Target="/ppt/notesMasters/notesMaster1.xml" Id="R01ebff41290b42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6f376d4fbc453b" /><Relationship Type="http://schemas.openxmlformats.org/officeDocument/2006/relationships/notesMaster" Target="/ppt/notesMasters/notesMaster1.xml" Id="Ra820284e5c0c40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4a373b82a94e5b" /><Relationship Type="http://schemas.openxmlformats.org/officeDocument/2006/relationships/notesMaster" Target="/ppt/notesMasters/notesMaster1.xml" Id="R989f10fc102549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4beffa262e43ad" /><Relationship Type="http://schemas.openxmlformats.org/officeDocument/2006/relationships/notesMaster" Target="/ppt/notesMasters/notesMaster1.xml" Id="Rd8191209aa4249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5cfa07bb4f4430" /><Relationship Type="http://schemas.openxmlformats.org/officeDocument/2006/relationships/notesMaster" Target="/ppt/notesMasters/notesMaster1.xml" Id="R266e834091a1442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fa910af91ea4bb8" /><Relationship Type="http://schemas.openxmlformats.org/officeDocument/2006/relationships/notesMaster" Target="/ppt/notesMasters/notesMaster1.xml" Id="R4198467046cf4c8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c81c58516e404a" /><Relationship Type="http://schemas.openxmlformats.org/officeDocument/2006/relationships/notesMaster" Target="/ppt/notesMasters/notesMaster1.xml" Id="R33fd94795e6441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0e18e3e84f4cc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94124675394e9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ad7c85cc57497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9f93b9198a44e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a67aa48f68453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a4b350fbba4b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0719D4-4A5F-4C2F-8D2C-17DC785587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DD9C7E0-5DE3-4A2B-8501-B1CB1139877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E66978E-1A57-4673-B39A-3DF047727E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40A2C7-9557-443D-AED3-C87E901CDA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78BCD34-5224-4D46-99D2-CEE2151B6C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7CF9F72-49C9-4B08-9C49-965EDB839B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DC8DB9F-D78C-4A63-8E8C-4CC352A764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FE0157D-4579-4FA9-8B91-A23F23513EC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823770-B2F8-4AE5-AD61-41E774EEEC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394D392-CC87-48E5-978C-10C503692D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1f8485c59d4cb0" /><Relationship Type="http://schemas.openxmlformats.org/officeDocument/2006/relationships/slideLayout" Target="/ppt/slideLayouts/slideLayout1.xml" Id="R8629b11180d142fb" /><Relationship Type="http://schemas.openxmlformats.org/officeDocument/2006/relationships/slideLayout" Target="/ppt/slideLayouts/slideLayout2.xml" Id="R9864f7272b384249" /><Relationship Type="http://schemas.openxmlformats.org/officeDocument/2006/relationships/slideLayout" Target="/ppt/slideLayouts/slideLayout3.xml" Id="R4ab47b6055004ea6" /><Relationship Type="http://schemas.openxmlformats.org/officeDocument/2006/relationships/slideLayout" Target="/ppt/slideLayouts/slideLayout4.xml" Id="Rd3d17f5ad24e48f2" /><Relationship Type="http://schemas.openxmlformats.org/officeDocument/2006/relationships/slideLayout" Target="/ppt/slideLayouts/slideLayout5.xml" Id="Ra20166ca044f4b6d" /><Relationship Type="http://schemas.openxmlformats.org/officeDocument/2006/relationships/slideLayout" Target="/ppt/slideLayouts/slideLayout6.xml" Id="R0d1bdf5ccf9b49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29b11180d142fb"/>
    <p:sldLayoutId xmlns:r="http://schemas.openxmlformats.org/officeDocument/2006/relationships" id="2147483650" r:id="R9864f7272b384249"/>
    <p:sldLayoutId xmlns:r="http://schemas.openxmlformats.org/officeDocument/2006/relationships" id="2147483651" r:id="R4ab47b6055004ea6"/>
    <p:sldLayoutId xmlns:r="http://schemas.openxmlformats.org/officeDocument/2006/relationships" id="2147483652" r:id="Rd3d17f5ad24e48f2"/>
    <p:sldLayoutId xmlns:r="http://schemas.openxmlformats.org/officeDocument/2006/relationships" id="2147483653" r:id="Ra20166ca044f4b6d"/>
    <p:sldLayoutId xmlns:r="http://schemas.openxmlformats.org/officeDocument/2006/relationships" id="2147483654" r:id="R0d1bdf5ccf9b49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Minimal Traffic">
      <a:dk1>
        <a:srgbClr val="000000"/>
      </a:dk1>
      <a:lt1>
        <a:srgbClr val="FFFFFF"/>
      </a:lt1>
      <a:dk2>
        <a:srgbClr val="172A3A"/>
      </a:dk2>
      <a:lt2>
        <a:srgbClr val="EEF2F4"/>
      </a:lt2>
      <a:accent1>
        <a:srgbClr val="236B8E"/>
      </a:accent1>
      <a:accent2>
        <a:srgbClr val="5E9DBA"/>
      </a:accent2>
      <a:accent3>
        <a:srgbClr val="3B7D61"/>
      </a:accent3>
      <a:accent4>
        <a:srgbClr val="B67A22"/>
      </a:accent4>
      <a:accent5>
        <a:srgbClr val="B23A35"/>
      </a:accent5>
      <a:accent6>
        <a:srgbClr val="5F6B76"/>
      </a:accent6>
      <a:hlink>
        <a:srgbClr val="236B8E"/>
      </a:hlink>
      <a:folHlink>
        <a:srgbClr val="172A3A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Minimal Traffic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bb9304dca843f0" /><Relationship Type="http://schemas.openxmlformats.org/officeDocument/2006/relationships/image" Target="/ppt/media/image.jpeg" Id="R88e1bbda01ad4bea" /><Relationship Type="http://schemas.openxmlformats.org/officeDocument/2006/relationships/notesSlide" Target="/ppt/notesSlides/notesSlide1.xml" Id="R793727bad7424f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0ad99566da4a17" /><Relationship Type="http://schemas.openxmlformats.org/officeDocument/2006/relationships/image" Target="/ppt/media/image2.jpeg" Id="R2909b61a61e54190" /><Relationship Type="http://schemas.openxmlformats.org/officeDocument/2006/relationships/notesSlide" Target="/ppt/notesSlides/notesSlide2.xml" Id="Ra1313124f3e14a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4975dcc8674b67" /><Relationship Type="http://schemas.openxmlformats.org/officeDocument/2006/relationships/notesSlide" Target="/ppt/notesSlides/notesSlide3.xml" Id="R57fe7d08b0c34a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8d262300464f13" /><Relationship Type="http://schemas.openxmlformats.org/officeDocument/2006/relationships/image" Target="/ppt/media/image3.jpeg" Id="R0f13a9997dc74032" /><Relationship Type="http://schemas.openxmlformats.org/officeDocument/2006/relationships/image" Target="/ppt/media/image4.jpeg" Id="R582ebbebfac240f0" /><Relationship Type="http://schemas.openxmlformats.org/officeDocument/2006/relationships/notesSlide" Target="/ppt/notesSlides/notesSlide4.xml" Id="Rdfd58ad6c5174f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a81b7fb82b40c0" /><Relationship Type="http://schemas.openxmlformats.org/officeDocument/2006/relationships/chart" Target="/ppt/slides/charts/chart1.xml" Id="Re6c1e012435a4ddc" /><Relationship Type="http://schemas.openxmlformats.org/officeDocument/2006/relationships/notesSlide" Target="/ppt/notesSlides/notesSlide5.xml" Id="Rb7d61fd8a0a240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c592b7e2044ff6" /><Relationship Type="http://schemas.openxmlformats.org/officeDocument/2006/relationships/notesSlide" Target="/ppt/notesSlides/notesSlide6.xml" Id="R7dff9e3ff21347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9387e52b2d46ac" /><Relationship Type="http://schemas.openxmlformats.org/officeDocument/2006/relationships/image" Target="/ppt/media/image5.jpeg" Id="R7d9adaa0f562445f" /><Relationship Type="http://schemas.openxmlformats.org/officeDocument/2006/relationships/notesSlide" Target="/ppt/notesSlides/notesSlide7.xml" Id="R0139031a2d4149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78bf4c4ce74910" /><Relationship Type="http://schemas.openxmlformats.org/officeDocument/2006/relationships/chart" Target="/ppt/slides/charts/chart2.xml" Id="R54ecf9669ec24c84" /><Relationship Type="http://schemas.openxmlformats.org/officeDocument/2006/relationships/notesSlide" Target="/ppt/notesSlides/notesSlide8.xml" Id="R17ac0521da804f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4ab02ed230416a" /><Relationship Type="http://schemas.openxmlformats.org/officeDocument/2006/relationships/chart" Target="/ppt/slides/charts/chart3.xml" Id="R887b4b2bf0c54400" /><Relationship Type="http://schemas.openxmlformats.org/officeDocument/2006/relationships/image" Target="/ppt/media/image6.jpeg" Id="R2827f344d7c2448e" /><Relationship Type="http://schemas.openxmlformats.org/officeDocument/2006/relationships/image" Target="/ppt/media/image7.jpeg" Id="R847242fa93ff463b" /><Relationship Type="http://schemas.openxmlformats.org/officeDocument/2006/relationships/notesSlide" Target="/ppt/notesSlides/notesSlide9.xml" Id="R4fc18e29221e4df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386cbe18d9455b" /><Relationship Type="http://schemas.openxmlformats.org/officeDocument/2006/relationships/image" Target="/ppt/media/image8.jpeg" Id="R0b066f72d11a41a0" /><Relationship Type="http://schemas.openxmlformats.org/officeDocument/2006/relationships/notesSlide" Target="/ppt/notesSlides/notesSlide10.xml" Id="R6dff3c18cd834e5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Số ảnh</c:v>
          </c:tx>
          <c:spPr>
            <a:solidFill xmlns:a="http://schemas.openxmlformats.org/drawingml/2006/main">
              <a:srgbClr val="236B8E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Train</c:v>
                </c:pt>
                <c:pt idx="1">
                  <c:v>Validation</c:v>
                </c:pt>
                <c:pt idx="2">
                  <c:v>Test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1000</c:v>
                </c:pt>
                <c:pt idx="1">
                  <c:v>200</c:v>
                </c:pt>
                <c:pt idx="2">
                  <c:v>200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7212B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FD8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2F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0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mAP@0.50:0.95</c:v>
          </c:tx>
          <c:spPr>
            <a:solidFill xmlns:a="http://schemas.openxmlformats.org/drawingml/2006/main">
              <a:srgbClr val="236B8E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SSD300-VGG16</c:v>
                </c:pt>
                <c:pt idx="1">
                  <c:v>YOLOv8s</c:v>
                </c:pt>
                <c:pt idx="2">
                  <c:v>YOLO11x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0.257</c:v>
                </c:pt>
                <c:pt idx="1">
                  <c:v>0.318</c:v>
                </c:pt>
                <c:pt idx="2">
                  <c:v>0.309</c:v>
                </c:pt>
              </c:numCache>
            </c:numRef>
          </c:val>
        </c:ser>
        <c:ser>
          <c:idx val="1"/>
          <c:order val="1"/>
          <c:tx>
            <c:v>F1</c:v>
          </c:tx>
          <c:spPr>
            <a:solidFill xmlns:a="http://schemas.openxmlformats.org/drawingml/2006/main">
              <a:srgbClr val="B67A22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SSD300-VGG16</c:v>
                </c:pt>
                <c:pt idx="1">
                  <c:v>YOLOv8s</c:v>
                </c:pt>
                <c:pt idx="2">
                  <c:v>YOLO11x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0.445</c:v>
                </c:pt>
                <c:pt idx="1">
                  <c:v>0.529</c:v>
                </c:pt>
                <c:pt idx="2">
                  <c:v>0.514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7212B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FD8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2F4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5F6B76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FPS</c:v>
          </c:tx>
          <c:spPr>
            <a:solidFill xmlns:a="http://schemas.openxmlformats.org/drawingml/2006/main">
              <a:srgbClr val="3B7D61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SSD300-VGG16</c:v>
                </c:pt>
                <c:pt idx="1">
                  <c:v>YOLOv8s</c:v>
                </c:pt>
                <c:pt idx="2">
                  <c:v>YOLO11x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166.8</c:v>
                </c:pt>
                <c:pt idx="1">
                  <c:v>119.9</c:v>
                </c:pt>
                <c:pt idx="2">
                  <c:v>65.2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7212B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2F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FD8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C48D0C-BAB7-4FA0-AAA4-29A0D004D0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e1bbda01ad4bea"/>
          <a:srcRect xmlns:a="http://schemas.openxmlformats.org/drawingml/2006/main" l="13889" t="0" r="138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8ED054-FAB4-408E-8173-17A0AF66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76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47F1A3-210C-466F-9BFD-73BA5E2D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6C5CE8-A23F-483E-B52C-5ED5158D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71600"/>
            <a:ext cx="590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37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7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PHÁT HIỆN PHƯƠNG TIỆN</a:t>
            </a:r>
          </a:p>
          <a:p xmlns:a="http://schemas.openxmlformats.org/drawingml/2006/main">
            <a:pPr algn="l">
              <a:defRPr sz="337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VƯỢT ĐÈN ĐỎ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E57728-00BC-4A28-9007-2FEACF6C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542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Hệ thống thị giác máy tính cho camera giao thông cố định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51C01-35D6-4CF4-9CEC-8FD47395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361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Nguyễn Tuấn Anh</a:t>
            </a:r>
          </a:p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Lớp 124231</a:t>
            </a:r>
          </a:p>
        </p:txBody>
      </p:sp>
    </p:spTree>
    <p:extLst>
      <p:ext uri="{BB962C8B-B14F-4D97-AF65-F5344CB8AC3E}">
        <p14:creationId xmlns:p14="http://schemas.microsoft.com/office/powerpoint/2010/main" val="8487776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AA3AAA-5FE8-4F40-AB29-B709B407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Bài toán và mục tiêu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6E01D3-17CB-453D-B63D-36053BAF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F0330A-4EEA-4468-8208-28EE8B42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F6B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9882FC-AF93-4FC3-B94F-D1854D5C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095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Phát hiện một xe chưa đủ để kết luận vi phạm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129DE9-CA13-43A4-8464-4A2BB8CD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95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Hệ thống phải liên kết đúng phương tiện, trạng thái đèn, vạch dừng và thời điểm cắt vạch.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306BC0-D3F4-4B8D-A825-7BECBDC4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36B8E"/>
                </a:solidFill>
                <a:latin typeface="Arial"/>
                <a:ea typeface="Arial"/>
                <a:cs typeface="Arial"/>
              </a:rPr>
              <a:t>ĐẦU VÀO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52B2E5-A3FC-4D76-BFB5-4039237B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Video từ camera cố định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E7726B-00E7-4748-AD9B-B5D023D1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36B8E"/>
                </a:solidFill>
                <a:latin typeface="Arial"/>
                <a:ea typeface="Arial"/>
                <a:cs typeface="Arial"/>
              </a:rPr>
              <a:t>ĐẦU 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EE9D2A-CA27-41D5-A7BE-DF9FA6D7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Sự kiện nghi vấn kèm ảnh bằng chứng và dữ liệu truy vết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A9BFB9-4B04-426C-9DEA-E80647D416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09b61a61e54190"/>
          <a:srcRect xmlns:a="http://schemas.openxmlformats.org/drawingml/2006/main" l="0" t="8244" r="0" b="82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524000"/>
            <a:ext cx="5314950" cy="44386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4DD43C-4495-461C-8556-86AC5468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D8790"/>
                </a:solidFill>
                <a:latin typeface="Arial"/>
                <a:ea typeface="Arial"/>
                <a:cs typeface="Arial"/>
              </a:rPr>
              <a:t>Nguyễn Tuấn Anh  ·  Lớp 124231</a:t>
            </a:r>
          </a:p>
        </p:txBody>
      </p:sp>
    </p:spTree>
    <p:extLst>
      <p:ext uri="{BB962C8B-B14F-4D97-AF65-F5344CB8AC3E}">
        <p14:creationId xmlns:p14="http://schemas.microsoft.com/office/powerpoint/2010/main" val="1950533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F1D50D-2DE8-4574-A7D0-B18215EAF186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V="1">
            <a:off x="8191500" y="2514600"/>
            <a:ext cx="666750" cy="5810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F6B76"/>
            </a:solidFill>
            <a:prstDash val="solid"/>
            <a:tailEnd type="triangle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EF4DDB-520A-415A-A115-1B5BE612E991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191500" y="1885950"/>
            <a:ext cx="666750" cy="628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F6B76"/>
            </a:solidFill>
            <a:prstDash val="solid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0A94EA-9D49-465D-96A6-550AE2E64CA3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524500" y="30956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6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AC192F-B6BC-4539-81CB-8E2FA1FA2AC6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524500" y="18859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6"/>
            </a:solidFill>
            <a:prstDash val="solid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25728F-6F3F-4DAB-BE4F-0F1897D09F3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876550" y="2076450"/>
            <a:ext cx="647700" cy="1019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F6B76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56DD14-08DB-47B7-91C6-9E6B1D1E40A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876550" y="1885950"/>
            <a:ext cx="647700" cy="190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F6B76"/>
            </a:solidFill>
            <a:prstDash val="solid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A1BFA5-6D80-430B-AADF-60B28BE0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Kiến trúc hệ thống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ECF091-1291-48D6-A50A-7BB39CDD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048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Hai nhánh nhận diện hợp nhất tại bộ luật sự kiện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F52370-ED2D-4038-9274-ECB0A489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DC3F69-B521-4B3C-BF01-27146FD2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F6B7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362AF7-2ECF-4C66-BF6E-95C0A939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1907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038202-27A4-4B32-836F-FDC30795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843753-3BD9-499D-BE53-70064BD8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19275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Video + cấu hình camera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687DD4-7A98-4D8C-BD5D-95946D13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20002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2869E0-2DB9-4D28-B232-D9CA315D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5AFFB1-9552-4827-8150-B2558015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581150"/>
            <a:ext cx="171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Nhận diện xe</a:t>
            </a:r>
          </a:p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YOLO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F0C21B-C69B-4B3C-9A87-FB17DCFE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86050"/>
            <a:ext cx="20002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EB543E-D6EE-48A4-9EDE-DB85FF6E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8605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7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37534F-8030-4909-98CA-67ED25E1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90825"/>
            <a:ext cx="171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Nhận diện đèn</a:t>
            </a:r>
          </a:p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ROI + MobileNetV2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0CFD80-3EC0-4B53-A3AC-69FF8FC3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76375"/>
            <a:ext cx="20002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8F6612-FE01-4818-8595-60B62E09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76375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D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F7013F-034D-4F8E-BA9B-28206739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171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Theo dõi ID</a:t>
            </a:r>
          </a:p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ByteTrack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3C8E2F-EF23-43B2-BD35-AD48C992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86050"/>
            <a:ext cx="20002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25D947-4EB2-448E-845C-7029FC04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8605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7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420818-26A8-4C07-9FD1-7FA40DF6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90825"/>
            <a:ext cx="171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Ổn định trạng thái</a:t>
            </a:r>
          </a:p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3 khung hình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B28524-FDCE-4D00-906F-657199DC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47875"/>
            <a:ext cx="2381250" cy="93345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B779C7-DC16-48F8-8EAB-94D6F192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47875"/>
            <a:ext cx="666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1B1CDA-9DB5-46EB-8F12-EA3A2BF1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5265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Cắt vạch có hướng</a:t>
            </a:r>
          </a:p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và xác nhận sự kiện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48C614-7C48-4AB3-94E0-FD62D18F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Kết quả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715F77-1BD8-4EC3-A9DF-A90A6959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Video đã gắn nhãn  ·  JSON/CSV  ·  ảnh toàn cảnh  ·  ảnh cắt phương tiện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45707F-DD14-4D77-87A6-F4ED5257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Mỗi lượt chạy lưu cấu hình, hash checkpoint và trạng thái hoàn tất để có thể kiểm tra lại.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D38E78-F7D1-4562-841C-A72872B6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D8790"/>
                </a:solidFill>
                <a:latin typeface="Arial"/>
                <a:ea typeface="Arial"/>
                <a:cs typeface="Arial"/>
              </a:rPr>
              <a:t>Nguyễn Tuấn Anh  ·  Lớp 124231</a:t>
            </a:r>
          </a:p>
        </p:txBody>
      </p:sp>
    </p:spTree>
    <p:extLst>
      <p:ext uri="{BB962C8B-B14F-4D97-AF65-F5344CB8AC3E}">
        <p14:creationId xmlns:p14="http://schemas.microsoft.com/office/powerpoint/2010/main" val="11171691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DF498D-1359-4389-A9C1-3040DC4F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Các mô hình đang sử dụng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DE0CB7-6AD6-4D7E-8262-F3DBDD99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50D740-87C8-49A4-A44F-E8B9F6A1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F6B7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1D926B-DE27-47FE-A93D-7FA64895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Phương tiện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3B06AF-E771-4C03-B7CF-F3A17269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YOLO11x pretrained COCO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F06BB-FDC3-4BBB-91C9-5982E570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57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Phát hiện bicycle, car, motorcycle, bus và truck. Ảnh đầu vào 960, confidence 0,10.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BA8AC4-B12A-4556-BD9F-06F4B198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ByteTrack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04EC86-7733-4FDC-B2B8-EADEC7B0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4572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Duy trì ID khi xe bị che khuất ngắn và giữ các hộp có độ tin cậy thấp cho bước liên kết.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594E46-B55C-47F3-A04B-6B8F58EFB3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13a9997dc74032"/>
          <a:stretch xmlns:a="http://schemas.openxmlformats.org/drawingml/2006/main"/>
        </p:blipFill>
        <p:spPr>
          <a:xfrm xmlns:a="http://schemas.openxmlformats.org/drawingml/2006/main">
            <a:off x="4172451" y="5143500"/>
            <a:ext cx="703847" cy="857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D34904-C9A8-49C0-AF9F-D85E6E56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24000"/>
            <a:ext cx="190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A87C13-8A26-4DE4-9688-5DA33458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430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Đèn giao thông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6F232D-5C4D-4D6C-8587-5EE7B7D8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YOLOv8s + ROI cố định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48D4EC-9BA1-4115-A8A4-B804F53F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YOLO đề xuất vùng đèn. Cấu hình camera xác nhận vùng đèn điều khiển đúng làn.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00DAB0-1B84-45E2-9CEB-1143E0A7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242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MobileNetV2 ONNX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E38F9F-CEE2-4930-B1A7-FBFAE88B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52875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Phân loại trạng thái từ crop 224 × 224. Ngưỡng confidence 0,80; đầu ra mơ hồ chuyển thành UNKNOWN.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208B36-2A06-4D87-B08D-DFC01C9F41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2ebbebfac240f0"/>
          <a:srcRect xmlns:a="http://schemas.openxmlformats.org/drawingml/2006/main" l="0" t="16667" r="0" b="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67875" y="4981575"/>
            <a:ext cx="1571625" cy="10477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E2720A-B719-4857-A013-2CE6F9EC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D8790"/>
                </a:solidFill>
                <a:latin typeface="Arial"/>
                <a:ea typeface="Arial"/>
                <a:cs typeface="Arial"/>
              </a:rPr>
              <a:t>Nguyễn Tuấn Anh  ·  Lớp 124231</a:t>
            </a:r>
          </a:p>
        </p:txBody>
      </p:sp>
    </p:spTree>
    <p:extLst>
      <p:ext uri="{BB962C8B-B14F-4D97-AF65-F5344CB8AC3E}">
        <p14:creationId xmlns:p14="http://schemas.microsoft.com/office/powerpoint/2010/main" val="19685937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B7E659-E2AE-437F-BDE2-EBCED831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Bộ dữ liệu và thiết lập thực nghiệm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38C67F-3E50-4ABE-92E9-C2584E85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048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Tập con COCO, cùng phép chia cho ba detector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0ACDB0-E243-4F40-94FE-56ABCF38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1DE146-A770-4E8E-9805-FEB86A56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F6B7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B46BA7D5-B09D-46F2-BEBA-0D79DA9BF9BB}"/>
              </a:ext>
            </a:extLst>
          </p:cNvPr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667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6c1e012435a4dd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DA7DC-FBC4-4136-B6CB-F9D0DCAC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66875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1.400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3305A6-49AB-4470-8464-774544E6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ảnh tổng cộng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AD0D4-6DF2-4CF1-AC6A-CB68E3A6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36B8E"/>
                </a:solidFill>
                <a:latin typeface="Arial"/>
                <a:ea typeface="Arial"/>
                <a:cs typeface="Arial"/>
              </a:rPr>
              <a:t>3.539 / 685 / 762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BFD17D-9BCF-4D51-9212-AE841F31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147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đối tượng trong train / validation /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25464C-9881-4913-A6B9-5D39B5AE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101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5 lớp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920CE9-01C5-4996-9F7E-A30CE90E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387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bicycle, car, motorcycle, bus, truck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75E561-59B6-4D4A-B9F8-3230C80E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D8790"/>
                </a:solidFill>
                <a:latin typeface="Arial"/>
                <a:ea typeface="Arial"/>
                <a:cs typeface="Arial"/>
              </a:rPr>
              <a:t>Nguyễn Tuấn Anh  ·  Lớp 124231</a:t>
            </a:r>
          </a:p>
        </p:txBody>
      </p:sp>
    </p:spTree>
    <p:extLst>
      <p:ext uri="{BB962C8B-B14F-4D97-AF65-F5344CB8AC3E}">
        <p14:creationId xmlns:p14="http://schemas.microsoft.com/office/powerpoint/2010/main" val="611124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6E02D5-B943-4A1D-BB3B-8109E1A58BD4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448550" y="44291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6"/>
            </a:solidFill>
            <a:prstDash val="solid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A418A6-AA57-4411-A125-C7AF71AE2114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829050" y="44291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6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ECC804-E078-4F14-A632-E7395F6E8093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2257425" y="3048000"/>
            <a:ext cx="7239000" cy="666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F6B76"/>
            </a:solidFill>
            <a:prstDash val="solid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DE80DA-6503-4615-AB2B-4B640310806B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448550" y="23336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6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306D65-F1B2-4350-A469-17B3018957D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3336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6"/>
            </a:solidFill>
            <a:prstDash val="solid"/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4AEA42-6167-49EC-A4C3-EC15ABCE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Các bước xử lý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4945D1-0569-4638-AD45-CE3A7D57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048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Luồng xử lý một video từ hiệu chỉnh đến xuất bằng chứng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2F263-5080-4E0D-A6D4-C07737BB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FAF5F2-AE8D-4FCA-AA83-CF8D17A6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F6B7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230030-ACFF-4DAF-9401-26986AE5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FD8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4A5CF-6086-4151-A852-D31809D2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288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B8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8D34F4-C75C-40EF-BD62-AFD0DC69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Nạp video và</a:t>
            </a:r>
          </a:p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cấu hình camera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64BD62-EA2E-4EF8-AA7B-9EB162EC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1925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FD8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071CFE-18F6-4399-B349-F2E44F51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288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B8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CAA015-680A-4FCA-B76D-AEBBBFE2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431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Phát hiện xe,</a:t>
            </a:r>
          </a:p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cập nhật 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B7DDE9-95AE-46B2-B98F-744EDD19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1925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FD8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405299-4347-435E-B168-491EFEA7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288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B8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06A709-72C3-4E88-B013-AC4B6356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431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Đọc trạng thái</a:t>
            </a:r>
          </a:p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đèn theo làn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918456-4B6C-41C9-A4D0-284076F4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FD8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92EFD2-113C-4AB9-8631-B27F0189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243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B8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0991D0-9156-426B-9AAE-4325E900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386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Tính điểm neo và</a:t>
            </a:r>
          </a:p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quỹ đạo có hướng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033E81-8FDC-4CF7-9D00-A60D8404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1475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FD8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DCA968-9AC2-431F-80AB-5B2EC9E7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243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B8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F30063-01F2-43CA-A3CE-35EE4032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386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Kiểm tra cắt vạch</a:t>
            </a:r>
          </a:p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và xác nhận 3 frame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E1E915-93BD-4316-B9C9-104E934B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1475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FD8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77F7F4-7BB8-4D4A-A790-8546F0E8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243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B8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5EB3FA-641C-43A0-AD93-4754B102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386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Xuất video, sự kiện</a:t>
            </a:r>
          </a:p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và ảnh bằng chứng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7D9A51-6152-426E-9AAC-301AC6C7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D8790"/>
                </a:solidFill>
                <a:latin typeface="Arial"/>
                <a:ea typeface="Arial"/>
                <a:cs typeface="Arial"/>
              </a:rPr>
              <a:t>Nguyễn Tuấn Anh  ·  Lớp 124231</a:t>
            </a:r>
          </a:p>
        </p:txBody>
      </p:sp>
    </p:spTree>
    <p:extLst>
      <p:ext uri="{BB962C8B-B14F-4D97-AF65-F5344CB8AC3E}">
        <p14:creationId xmlns:p14="http://schemas.microsoft.com/office/powerpoint/2010/main" val="15401170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F030A5-75D0-4031-BFED-251E118C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Logic xác nhận vi phạm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7683A-399A-463F-B08F-280FEA7D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7618C6-24FF-41F4-8796-9FC19A09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F6B7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47D6F4-A84A-4CD5-BD1A-8265635DC6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9adaa0f562445f"/>
          <a:stretch xmlns:a="http://schemas.openxmlformats.org/drawingml/2006/main"/>
        </p:blipFill>
        <p:spPr>
          <a:xfrm xmlns:a="http://schemas.openxmlformats.org/drawingml/2006/main">
            <a:off x="2122488" y="1476375"/>
            <a:ext cx="3175000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BF6CE9-227C-4C6C-91AC-136B06EB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383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Sự kiện chỉ được ghi khi đủ bằng chứng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071CE3-3D43-4C84-BE30-3B990DFD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4095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50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12B"/>
                </a:solidFill>
                <a:latin typeface="Arial"/>
                <a:ea typeface="Arial"/>
                <a:cs typeface="Arial"/>
              </a:rPr>
              <a:t>ID xe đã xuất hiện ở phía trước vạch.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50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12B"/>
                </a:solidFill>
                <a:latin typeface="Arial"/>
                <a:ea typeface="Arial"/>
                <a:cs typeface="Arial"/>
              </a:rPr>
              <a:t>Đoạn quỹ đạo cắt đúng đoạn vạch theo hướng giám sát.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50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12B"/>
                </a:solidFill>
                <a:latin typeface="Arial"/>
                <a:ea typeface="Arial"/>
                <a:cs typeface="Arial"/>
              </a:rPr>
              <a:t>Đèn ở trạng thái RED tại thời điểm cắt.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50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12B"/>
                </a:solidFill>
                <a:latin typeface="Arial"/>
                <a:ea typeface="Arial"/>
                <a:cs typeface="Arial"/>
              </a:rPr>
              <a:t>Xe tiếp tục ở phía sau vạch trong 3 frame.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50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12B"/>
                </a:solidFill>
                <a:latin typeface="Arial"/>
                <a:ea typeface="Arial"/>
                <a:cs typeface="Arial"/>
              </a:rPr>
              <a:t>Xe quay lại trước khi đủ xác nhận thì ứng viên bị hủy.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F7E45A-DAA7-4A34-808E-D61C5F07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2450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6B8E"/>
                </a:solidFill>
                <a:latin typeface="Arial"/>
                <a:ea typeface="Arial"/>
                <a:cs typeface="Arial"/>
              </a:rPr>
              <a:t>Frame cắt và frame xác nhận được lưu riêng để giữ đúng mốc thời gian.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4A2C6E-CFF7-435D-95F2-7A9D81F2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D8790"/>
                </a:solidFill>
                <a:latin typeface="Arial"/>
                <a:ea typeface="Arial"/>
                <a:cs typeface="Arial"/>
              </a:rPr>
              <a:t>Nguyễn Tuấn Anh  ·  Lớp 124231</a:t>
            </a:r>
          </a:p>
        </p:txBody>
      </p:sp>
    </p:spTree>
    <p:extLst>
      <p:ext uri="{BB962C8B-B14F-4D97-AF65-F5344CB8AC3E}">
        <p14:creationId xmlns:p14="http://schemas.microsoft.com/office/powerpoint/2010/main" val="17137437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8F74AB-689B-48C3-9572-382127D7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Kết quả đánh giá detector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5A6C25-1010-4577-8A39-0441E609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048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200 ảnh test, confidence 0,25 và IoU 0,50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30E368-F2E2-4C93-84A1-3E217EE0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EF8BFA-0709-465F-8F63-F6C27A34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F6B7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0166DC0B-E476-42DD-B799-488EC3159F0D}"/>
              </a:ext>
            </a:extLst>
          </p:cNvPr>
          <p:cNvGraphicFramePr/>
          <p:nvPr/>
        </p:nvGraphicFramePr>
        <p:xfrm>
          <a:off xmlns:a="http://schemas.openxmlformats.org/drawingml/2006/main" x="571500" y="1524000"/>
          <a:ext xmlns:a="http://schemas.openxmlformats.org/drawingml/2006/main" cx="75247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4ecf9669ec24c8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B08266-C074-4459-B4EA-E302B8EB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621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36B8E"/>
                </a:solidFill>
                <a:latin typeface="Arial"/>
                <a:ea typeface="Arial"/>
                <a:cs typeface="Arial"/>
              </a:rPr>
              <a:t>YOLOv8s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3DA7E3-E1E7-4CA4-9E9F-F129C1D6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05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mAP cao nhất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F19A1B-1C0A-4D47-952D-C81744CE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0,318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A92AE9-3E93-4F54-8329-BEEFAD09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242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F1 = 0,529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BCA742-8FF3-4E81-9A8E-EAC0CD13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624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3B7D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B7D6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B7D61"/>
                </a:solidFill>
                <a:latin typeface="Arial"/>
                <a:ea typeface="Arial"/>
                <a:cs typeface="Arial"/>
              </a:rPr>
              <a:t>119,9 FPS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224616-0420-48E3-9271-31541CF6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2619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Đo batch 1, FP32 trên NVIDIA H100. FPS chỉ tính detector.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140D92-5679-4B29-8361-BBC9AC78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D8790"/>
                </a:solidFill>
                <a:latin typeface="Arial"/>
                <a:ea typeface="Arial"/>
                <a:cs typeface="Arial"/>
              </a:rPr>
              <a:t>Nguyễn Tuấn Anh  ·  Lớp 124231</a:t>
            </a:r>
          </a:p>
        </p:txBody>
      </p:sp>
    </p:spTree>
    <p:extLst>
      <p:ext uri="{BB962C8B-B14F-4D97-AF65-F5344CB8AC3E}">
        <p14:creationId xmlns:p14="http://schemas.microsoft.com/office/powerpoint/2010/main" val="19316015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C65C2B-2841-4F09-B9DA-887527E6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Tốc độ và bằng chứng sự kiện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086B0D-E75C-4423-9FDD-3657CBA1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47C769-FAFD-4984-93B0-632EF436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F6B7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72FC2965-1E16-4A4F-AAA3-2835F84A1C85}"/>
              </a:ext>
            </a:extLst>
          </p:cNvPr>
          <p:cNvGraphicFramePr/>
          <p:nvPr/>
        </p:nvGraphicFramePr>
        <p:xfrm>
          <a:off xmlns:a="http://schemas.openxmlformats.org/drawingml/2006/main" x="523875" y="1619250"/>
          <a:ext xmlns:a="http://schemas.openxmlformats.org/drawingml/2006/main" cx="5334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87b4b2bf0c5440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EFBE92-DB52-44D0-8B28-23C9A5AC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SSD nhanh nhất; YOLOv8s có độ chính xác cao hơn và chỉ 11,1 triệu tham số.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56A9C3-2F66-42A7-A342-16CA01622D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27f344d7c2448e"/>
          <a:srcRect xmlns:a="http://schemas.openxmlformats.org/drawingml/2006/main" l="12879" t="0" r="128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1571625"/>
            <a:ext cx="2333625" cy="314325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9CF2C6-DC82-4F0D-9C8F-4B9DBDDE09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7242fa93ff463b"/>
          <a:srcRect xmlns:a="http://schemas.openxmlformats.org/drawingml/2006/main" l="12879" t="0" r="128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96375" y="1571625"/>
            <a:ext cx="2333625" cy="3143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0B83EE-79CF-4182-9BD1-71D17350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4825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Ảnh toàn cảnh giữ đồng thời phương tiện, vạch và trạng thái nút giao để người vận hành kiểm tra lại.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7A44DD-7066-4087-868B-0256F1CE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D8790"/>
                </a:solidFill>
                <a:latin typeface="Arial"/>
                <a:ea typeface="Arial"/>
                <a:cs typeface="Arial"/>
              </a:rPr>
              <a:t>Nguyễn Tuấn Anh  ·  Lớp 124231</a:t>
            </a:r>
          </a:p>
        </p:txBody>
      </p:sp>
    </p:spTree>
    <p:extLst>
      <p:ext uri="{BB962C8B-B14F-4D97-AF65-F5344CB8AC3E}">
        <p14:creationId xmlns:p14="http://schemas.microsoft.com/office/powerpoint/2010/main" val="5803285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0EE74F-9496-4ACD-A559-104AC0E200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066f72d11a41a0"/>
          <a:srcRect xmlns:a="http://schemas.openxmlformats.org/drawingml/2006/main" l="13889" t="0" r="138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D24F62-B169-4556-BC26-1C9AFE00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76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565338-E2A9-462B-87BB-A713946D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00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16578E-0EC2-4CDF-A7A9-3E4EFBFA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Kết luận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982524-8526-4E24-A716-51E36449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42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YOLOv8s đạt cân bằng tốt nhất trên tập thử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04BB17-5EFA-4619-B7D1-9C6886B4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36B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36B8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6B8E"/>
                </a:solidFill>
                <a:latin typeface="Arial"/>
                <a:ea typeface="Arial"/>
                <a:cs typeface="Arial"/>
              </a:rPr>
              <a:t>mAP@0.50:0.95 = 0,318 · F1 = 0,529 · 119,9 FPS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585A0F-9691-4015-AD6F-A662318E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FE7955-9826-489A-A906-7476FF55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Giới hạn cần xử lý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9A0641-451F-4293-9DC4-5B828AC9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5286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Chưa có ground truth sự kiện độc lập. Dữ liệu COCO chưa đại diện đầy đủ cho camera và giao thông Việt Nam.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D579A4-3024-43FF-82AD-28F24EA8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Bước tiếp theo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4858F1-24C3-4E62-A1D3-2D335D9B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5286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Gán nhãn theo camera, đánh giá tracking, trạng thái đèn và F1 ở mức sự kiện.</a:t>
            </a:r>
          </a:p>
        </p:txBody>
      </p:sp>
    </p:spTree>
    <p:extLst>
      <p:ext uri="{BB962C8B-B14F-4D97-AF65-F5344CB8AC3E}">
        <p14:creationId xmlns:p14="http://schemas.microsoft.com/office/powerpoint/2010/main" val="198222772"/>
      </p:ext>
    </p:extLst>
  </p:cSld>
</p:sld>
</file>

<file path=ppt/theme/theme1.xml><?xml version="1.0" encoding="utf-8"?>
<a:theme xmlns:a="http://schemas.openxmlformats.org/drawingml/2006/main" name="ChatGPT">
  <a:themeElements>
    <a:clrScheme name="Minimal Traffic">
      <a:dk1>
        <a:srgbClr val="000000"/>
      </a:dk1>
      <a:lt1>
        <a:srgbClr val="FFFFFF"/>
      </a:lt1>
      <a:dk2>
        <a:srgbClr val="172A3A"/>
      </a:dk2>
      <a:lt2>
        <a:srgbClr val="EEF2F4"/>
      </a:lt2>
      <a:accent1>
        <a:srgbClr val="236B8E"/>
      </a:accent1>
      <a:accent2>
        <a:srgbClr val="5E9DBA"/>
      </a:accent2>
      <a:accent3>
        <a:srgbClr val="3B7D61"/>
      </a:accent3>
      <a:accent4>
        <a:srgbClr val="B67A22"/>
      </a:accent4>
      <a:accent5>
        <a:srgbClr val="B23A35"/>
      </a:accent5>
      <a:accent6>
        <a:srgbClr val="5F6B76"/>
      </a:accent6>
      <a:hlink>
        <a:srgbClr val="236B8E"/>
      </a:hlink>
      <a:folHlink>
        <a:srgbClr val="172A3A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Minimal Traffic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2026-10-16T02:11:14.4150000Z</dcterms:created>
  <dcterms:modified xsi:type="dcterms:W3CDTF">2026-10-16T02:11:14.4150000Z</dcterms:modified>
</coreProperties>
</file>